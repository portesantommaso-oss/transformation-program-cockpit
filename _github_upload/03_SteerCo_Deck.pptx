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389b4d4-a2fe-4a0a-8d94-6912b6c438d3}">
          <p14:sldIdLst>
            <p14:sldId id="256"/>
          </p14:sldIdLst>
        </p14:section>
        <p14:section name="Status" id="{0e55f483-2dd0-e00c-fb97-404a8185c1cb}">
          <p14:sldIdLst>
            <p14:sldId id="257"/>
          </p14:sldIdLst>
        </p14:section>
        <p14:section name="Schedule" id="{ce9c4da1-e35c-f834-bd33-0b5b5c6bfde1}">
          <p14:sldIdLst>
            <p14:sldId id="258"/>
          </p14:sldIdLst>
        </p14:section>
        <p14:section name="Risks" id="{c7a320bf-f9f4-52a1-b126-462d7f4065eb}">
          <p14:sldIdLst>
            <p14:sldId id="259"/>
          </p14:sldIdLst>
        </p14:section>
        <p14:section name="Decision" id="{d130e1f9-cdb4-61d9-2804-87566ccd9c69}">
          <p14:sldIdLst>
            <p14:sldId id="260"/>
          </p14:sldIdLst>
        </p14:section>
        <p14:section name="Close" id="{0e7d7f51-53ef-2f14-f004-9424d5f0e87a}">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Pre-read for the go/no-go preparation checkpoint (T-3 weeks per the readiness framework). Everything in this deck traces to a row in the cockpit data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Dimension RAG is the worst criterion, no averaging. D6 is red on staffing; D1, D4, D5 are amber and under control with dates. D2 is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cockpit flags seven dependency conflicts. The three that matter for the decision are DR2, Op Risk approval and the competence assessment, all forecast after the decision paper is issued on 4 Nov.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R03 is what makes D6 red. R02 is the one that can turn the recommendation into a no-go if Op Risk will not attend. R01 is improving.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committee is asked to choose A, B or C and to accept the four conditions. Without a choice by 23 Oct, option A is no longer available and D6 stays red into the 6 Nov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the tool is a draft assistant with controls, not a decision maker. The honest evaluation number is 17%, and the next step is to measure the LLM engine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36454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103120"/>
            <a:ext cx="10881360" cy="12801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640080" y="3474720"/>
            <a:ext cx="10881360" cy="146304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4" name="Text 0"/>
          <p:cNvSpPr/>
          <p:nvPr/>
        </p:nvSpPr>
        <p:spPr>
          <a:xfrm>
            <a:off x="640080" y="6217920"/>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Synthetic illustrative case. Program, figures and names are fictional.</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548640" y="6400800"/>
            <a:ext cx="9144000" cy="274320"/>
          </a:xfrm>
          <a:prstGeom prst="rect">
            <a:avLst/>
          </a:prstGeom>
          <a:noFill/>
          <a:ln/>
        </p:spPr>
        <p:txBody>
          <a:bodyPr wrap="square" lIns="0" tIns="0" rIns="0" bIns="0" rtlCol="0" anchor="ctr"/>
          <a:lstStyle/>
          <a:p>
            <a:pPr indent="0" marL="0">
              <a:buNone/>
            </a:pPr>
            <a:r>
              <a:rPr lang="en-US" sz="900" dirty="0">
                <a:solidFill>
                  <a:schemeClr val="accent5"/>
                </a:solidFill>
              </a:rPr>
              <a:t>Program HORIZON (fictional) | Release Wave 3 | SteerCo pre-read | as of 9 Oct 2026 | synthetic data</a:t>
            </a:r>
            <a:endParaRPr lang="en-US" sz="9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C99"/>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C99"/>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2103120"/>
            <a:ext cx="10881360" cy="1280160"/>
          </a:xfrm>
          <a:prstGeom prst="rect">
            <a:avLst/>
          </a:prstGeom>
          <a:noFill/>
          <a:ln/>
        </p:spPr>
        <p:txBody>
          <a:bodyPr wrap="square" lIns="0" tIns="0" rIns="0" bIns="0" rtlCol="0"/>
          <a:lstStyle/>
          <a:p>
            <a:pPr algn="l" indent="0" marL="0">
              <a:buNone/>
            </a:pPr>
            <a:r>
              <a:rPr lang="en-US" sz="4000" b="1" dirty="0">
                <a:solidFill>
                  <a:schemeClr val="bg1"/>
                </a:solidFill>
              </a:rPr>
              <a:t>Release Wave 3: go/no-go preparation</a:t>
            </a:r>
            <a:endParaRPr lang="en-US" sz="4000" dirty="0"/>
          </a:p>
        </p:txBody>
      </p:sp>
      <p:sp>
        <p:nvSpPr>
          <p:cNvPr id="3" name="Text 0"/>
          <p:cNvSpPr/>
          <p:nvPr>
            <p:ph idx="101" type="body" hasCustomPrompt="1"/>
          </p:nvPr>
        </p:nvSpPr>
        <p:spPr>
          <a:xfrm>
            <a:off x="640080" y="3474720"/>
            <a:ext cx="10881360" cy="1463040"/>
          </a:xfrm>
          <a:prstGeom prst="rect">
            <a:avLst/>
          </a:prstGeom>
          <a:noFill/>
          <a:ln/>
        </p:spPr>
        <p:txBody>
          <a:bodyPr wrap="square" lIns="0" tIns="0" rIns="0" bIns="0" rtlCol="0"/>
          <a:lstStyle/>
          <a:p>
            <a:pPr indent="0" marL="0">
              <a:buNone/>
            </a:pPr>
            <a:r>
              <a:rPr lang="en-US" sz="1800" dirty="0">
                <a:solidFill>
                  <a:schemeClr val="bg2"/>
                </a:solidFill>
              </a:rPr>
              <a:t>Steering Committee pre-read, readiness as of 9 October 2026</a:t>
            </a:r>
            <a:endParaRPr lang="en-US" sz="1800" dirty="0"/>
          </a:p>
          <a:p>
            <a:pPr indent="0" marL="0">
              <a:buNone/>
            </a:pPr>
            <a:r>
              <a:rPr lang="en-US" sz="1800" dirty="0">
                <a:solidFill>
                  <a:schemeClr val="bg2"/>
                </a:solidFill>
              </a:rPr>
              <a:t>Cut-over weekend 21 to 22 November | decision meeting 6 November</a:t>
            </a:r>
            <a:endParaRPr lang="en-US" sz="1800" dirty="0"/>
          </a:p>
        </p:txBody>
      </p:sp>
      <p:sp>
        <p:nvSpPr>
          <p:cNvPr id="4" name="Text 2"/>
          <p:cNvSpPr txBox="1"/>
          <p:nvPr/>
        </p:nvSpPr>
        <p:spPr>
          <a:xfrm>
            <a:off x="640080" y="5760720"/>
            <a:ext cx="8229600" cy="320040"/>
          </a:xfrm>
          <a:prstGeom prst="rect">
            <a:avLst/>
          </a:prstGeom>
          <a:noFill/>
          <a:ln/>
        </p:spPr>
        <p:txBody>
          <a:bodyPr wrap="square" lIns="0" tIns="0" rIns="0" bIns="0" rtlCol="0" anchor="ctr"/>
          <a:lstStyle/>
          <a:p>
            <a:pPr indent="0" marL="0">
              <a:buNone/>
            </a:pPr>
            <a:r>
              <a:rPr lang="en-US" sz="1200" dirty="0">
                <a:solidFill>
                  <a:schemeClr val="accent6"/>
                </a:solidFill>
              </a:rPr>
              <a:t>Prepared with the Transformation Cockpit prototype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lstStyle/>
          <a:p>
            <a:pPr algn="l" indent="0" marL="0">
              <a:buNone/>
            </a:pPr>
            <a:r>
              <a:rPr lang="en-US" sz="2800" b="1" dirty="0">
                <a:solidFill>
                  <a:schemeClr val="tx2"/>
                </a:solidFill>
              </a:rPr>
              <a:t>Five dimensions amber, one red: recommendation is a conditional go</a:t>
            </a:r>
            <a:endParaRPr lang="en-US" sz="2800" dirty="0"/>
          </a:p>
        </p:txBody>
      </p:sp>
      <p:sp>
        <p:nvSpPr>
          <p:cNvPr id="3" name="card D1"/>
          <p:cNvSpPr/>
          <p:nvPr/>
        </p:nvSpPr>
        <p:spPr>
          <a:xfrm>
            <a:off x="548640" y="1325880"/>
            <a:ext cx="3566160" cy="1920240"/>
          </a:xfrm>
          <a:prstGeom prst="roundRect">
            <a:avLst>
              <a:gd name="adj" fmla="val 3810"/>
            </a:avLst>
          </a:prstGeom>
          <a:solidFill>
            <a:schemeClr val="bg2"/>
          </a:solidFill>
          <a:ln w="12700">
            <a:solidFill>
              <a:schemeClr val="bg2"/>
            </a:solidFill>
            <a:prstDash val="solid"/>
          </a:ln>
        </p:spPr>
      </p:sp>
      <p:sp>
        <p:nvSpPr>
          <p:cNvPr id="4" name="rag D1"/>
          <p:cNvSpPr/>
          <p:nvPr/>
        </p:nvSpPr>
        <p:spPr>
          <a:xfrm>
            <a:off x="777240" y="1554480"/>
            <a:ext cx="457200" cy="457200"/>
          </a:xfrm>
          <a:prstGeom prst="ellipse">
            <a:avLst/>
          </a:prstGeom>
          <a:solidFill>
            <a:srgbClr val="EF6C00"/>
          </a:solidFill>
          <a:ln w="12700">
            <a:solidFill>
              <a:srgbClr val="EF6C00"/>
            </a:solidFill>
            <a:prstDash val="solid"/>
          </a:ln>
        </p:spPr>
      </p:sp>
      <p:sp>
        <p:nvSpPr>
          <p:cNvPr id="5" name="Text 3"/>
          <p:cNvSpPr txBox="1"/>
          <p:nvPr/>
        </p:nvSpPr>
        <p:spPr>
          <a:xfrm>
            <a:off x="822960" y="1554480"/>
            <a:ext cx="365760" cy="457200"/>
          </a:xfrm>
          <a:prstGeom prst="rect">
            <a:avLst/>
          </a:prstGeom>
          <a:noFill/>
          <a:ln/>
        </p:spPr>
        <p:txBody>
          <a:bodyPr wrap="square" lIns="0" tIns="0" rIns="0" bIns="0" rtlCol="0" anchor="ctr"/>
          <a:lstStyle/>
          <a:p>
            <a:pPr algn="ctr" indent="0" marL="0">
              <a:buNone/>
            </a:pPr>
            <a:r>
              <a:rPr lang="en-US" sz="900" b="1" dirty="0">
                <a:solidFill>
                  <a:schemeClr val="bg1"/>
                </a:solidFill>
              </a:rPr>
              <a:t>Amber</a:t>
            </a:r>
            <a:endParaRPr lang="en-US" sz="900" dirty="0"/>
          </a:p>
        </p:txBody>
      </p:sp>
      <p:sp>
        <p:nvSpPr>
          <p:cNvPr id="6" name="Text 4"/>
          <p:cNvSpPr txBox="1"/>
          <p:nvPr/>
        </p:nvSpPr>
        <p:spPr>
          <a:xfrm>
            <a:off x="1371600" y="1527048"/>
            <a:ext cx="2606040" cy="548640"/>
          </a:xfrm>
          <a:prstGeom prst="rect">
            <a:avLst/>
          </a:prstGeom>
          <a:noFill/>
          <a:ln/>
        </p:spPr>
        <p:txBody>
          <a:bodyPr wrap="square" lIns="0" tIns="0" rIns="0" bIns="0" rtlCol="0" anchor="ctr"/>
          <a:lstStyle/>
          <a:p>
            <a:pPr indent="0" marL="0">
              <a:buNone/>
            </a:pPr>
            <a:r>
              <a:rPr lang="en-US" sz="1300" b="1" dirty="0">
                <a:solidFill>
                  <a:schemeClr val="tx2"/>
                </a:solidFill>
              </a:rPr>
              <a:t>D1  Data quality and reconciliation</a:t>
            </a:r>
            <a:endParaRPr lang="en-US" sz="1300" dirty="0"/>
          </a:p>
        </p:txBody>
      </p:sp>
      <p:sp>
        <p:nvSpPr>
          <p:cNvPr id="7" name="Text 5"/>
          <p:cNvSpPr txBox="1"/>
          <p:nvPr/>
        </p:nvSpPr>
        <p:spPr>
          <a:xfrm>
            <a:off x="777240" y="2194560"/>
            <a:ext cx="3108960" cy="960120"/>
          </a:xfrm>
          <a:prstGeom prst="rect">
            <a:avLst/>
          </a:prstGeom>
          <a:noFill/>
          <a:ln/>
        </p:spPr>
        <p:txBody>
          <a:bodyPr wrap="square" lIns="0" tIns="0" rIns="0" bIns="0" rtlCol="0" anchor="t"/>
          <a:lstStyle/>
          <a:p>
            <a:pPr indent="0" marL="0">
              <a:buNone/>
            </a:pPr>
            <a:r>
              <a:rPr lang="en-US" sz="1150" dirty="0">
                <a:solidFill>
                  <a:schemeClr val="tx1"/>
                </a:solidFill>
              </a:rPr>
              <a:t>Reconciliation 99.1% vs 99.5% target; 2 open S2 data defects; 2 of 3 mock runs done</a:t>
            </a:r>
            <a:endParaRPr lang="en-US" sz="1150" dirty="0"/>
          </a:p>
        </p:txBody>
      </p:sp>
      <p:sp>
        <p:nvSpPr>
          <p:cNvPr id="8" name="card D2"/>
          <p:cNvSpPr/>
          <p:nvPr/>
        </p:nvSpPr>
        <p:spPr>
          <a:xfrm>
            <a:off x="4297680" y="1325880"/>
            <a:ext cx="3566160" cy="1920240"/>
          </a:xfrm>
          <a:prstGeom prst="roundRect">
            <a:avLst>
              <a:gd name="adj" fmla="val 3810"/>
            </a:avLst>
          </a:prstGeom>
          <a:solidFill>
            <a:schemeClr val="bg2"/>
          </a:solidFill>
          <a:ln w="12700">
            <a:solidFill>
              <a:schemeClr val="bg2"/>
            </a:solidFill>
            <a:prstDash val="solid"/>
          </a:ln>
        </p:spPr>
      </p:sp>
      <p:sp>
        <p:nvSpPr>
          <p:cNvPr id="9" name="rag D2"/>
          <p:cNvSpPr/>
          <p:nvPr/>
        </p:nvSpPr>
        <p:spPr>
          <a:xfrm>
            <a:off x="4526280" y="1554480"/>
            <a:ext cx="457200" cy="457200"/>
          </a:xfrm>
          <a:prstGeom prst="ellipse">
            <a:avLst/>
          </a:prstGeom>
          <a:solidFill>
            <a:srgbClr val="2E7D32"/>
          </a:solidFill>
          <a:ln w="12700">
            <a:solidFill>
              <a:srgbClr val="2E7D32"/>
            </a:solidFill>
            <a:prstDash val="solid"/>
          </a:ln>
        </p:spPr>
      </p:sp>
      <p:sp>
        <p:nvSpPr>
          <p:cNvPr id="10" name="Text 8"/>
          <p:cNvSpPr txBox="1"/>
          <p:nvPr/>
        </p:nvSpPr>
        <p:spPr>
          <a:xfrm>
            <a:off x="4572000" y="1554480"/>
            <a:ext cx="365760" cy="457200"/>
          </a:xfrm>
          <a:prstGeom prst="rect">
            <a:avLst/>
          </a:prstGeom>
          <a:noFill/>
          <a:ln/>
        </p:spPr>
        <p:txBody>
          <a:bodyPr wrap="square" lIns="0" tIns="0" rIns="0" bIns="0" rtlCol="0" anchor="ctr"/>
          <a:lstStyle/>
          <a:p>
            <a:pPr algn="ctr" indent="0" marL="0">
              <a:buNone/>
            </a:pPr>
            <a:r>
              <a:rPr lang="en-US" sz="900" b="1" dirty="0">
                <a:solidFill>
                  <a:schemeClr val="bg1"/>
                </a:solidFill>
              </a:rPr>
              <a:t>Green</a:t>
            </a:r>
            <a:endParaRPr lang="en-US" sz="900" dirty="0"/>
          </a:p>
        </p:txBody>
      </p:sp>
      <p:sp>
        <p:nvSpPr>
          <p:cNvPr id="11" name="Text 9"/>
          <p:cNvSpPr txBox="1"/>
          <p:nvPr/>
        </p:nvSpPr>
        <p:spPr>
          <a:xfrm>
            <a:off x="5120640" y="1527048"/>
            <a:ext cx="2606040" cy="548640"/>
          </a:xfrm>
          <a:prstGeom prst="rect">
            <a:avLst/>
          </a:prstGeom>
          <a:noFill/>
          <a:ln/>
        </p:spPr>
        <p:txBody>
          <a:bodyPr wrap="square" lIns="0" tIns="0" rIns="0" bIns="0" rtlCol="0" anchor="ctr"/>
          <a:lstStyle/>
          <a:p>
            <a:pPr indent="0" marL="0">
              <a:buNone/>
            </a:pPr>
            <a:r>
              <a:rPr lang="en-US" sz="1300" b="1" dirty="0">
                <a:solidFill>
                  <a:schemeClr val="tx2"/>
                </a:solidFill>
              </a:rPr>
              <a:t>D2  Client and advisor communication</a:t>
            </a:r>
            <a:endParaRPr lang="en-US" sz="1300" dirty="0"/>
          </a:p>
        </p:txBody>
      </p:sp>
      <p:sp>
        <p:nvSpPr>
          <p:cNvPr id="12" name="Text 10"/>
          <p:cNvSpPr txBox="1"/>
          <p:nvPr/>
        </p:nvSpPr>
        <p:spPr>
          <a:xfrm>
            <a:off x="4526280" y="2194560"/>
            <a:ext cx="3108960" cy="960120"/>
          </a:xfrm>
          <a:prstGeom prst="rect">
            <a:avLst/>
          </a:prstGeom>
          <a:noFill/>
          <a:ln/>
        </p:spPr>
        <p:txBody>
          <a:bodyPr wrap="square" lIns="0" tIns="0" rIns="0" bIns="0" rtlCol="0" anchor="t"/>
          <a:lstStyle/>
          <a:p>
            <a:pPr indent="0" marL="0">
              <a:buNone/>
            </a:pPr>
            <a:r>
              <a:rPr lang="en-US" sz="1150" dirty="0">
                <a:solidFill>
                  <a:schemeClr val="tx1"/>
                </a:solidFill>
              </a:rPr>
              <a:t>100% clients notified; 96% advisors briefed; hypercare model published</a:t>
            </a:r>
            <a:endParaRPr lang="en-US" sz="1150" dirty="0"/>
          </a:p>
        </p:txBody>
      </p:sp>
      <p:sp>
        <p:nvSpPr>
          <p:cNvPr id="13" name="card D3"/>
          <p:cNvSpPr/>
          <p:nvPr/>
        </p:nvSpPr>
        <p:spPr>
          <a:xfrm>
            <a:off x="8046720" y="1325880"/>
            <a:ext cx="3566160" cy="1920240"/>
          </a:xfrm>
          <a:prstGeom prst="roundRect">
            <a:avLst>
              <a:gd name="adj" fmla="val 3810"/>
            </a:avLst>
          </a:prstGeom>
          <a:solidFill>
            <a:schemeClr val="bg2"/>
          </a:solidFill>
          <a:ln w="12700">
            <a:solidFill>
              <a:schemeClr val="bg2"/>
            </a:solidFill>
            <a:prstDash val="solid"/>
          </a:ln>
        </p:spPr>
      </p:sp>
      <p:sp>
        <p:nvSpPr>
          <p:cNvPr id="14" name="rag D3"/>
          <p:cNvSpPr/>
          <p:nvPr/>
        </p:nvSpPr>
        <p:spPr>
          <a:xfrm>
            <a:off x="8275320" y="1554480"/>
            <a:ext cx="457200" cy="457200"/>
          </a:xfrm>
          <a:prstGeom prst="ellipse">
            <a:avLst/>
          </a:prstGeom>
          <a:solidFill>
            <a:srgbClr val="EF6C00"/>
          </a:solidFill>
          <a:ln w="12700">
            <a:solidFill>
              <a:srgbClr val="EF6C00"/>
            </a:solidFill>
            <a:prstDash val="solid"/>
          </a:ln>
        </p:spPr>
      </p:sp>
      <p:sp>
        <p:nvSpPr>
          <p:cNvPr id="15" name="Text 13"/>
          <p:cNvSpPr txBox="1"/>
          <p:nvPr/>
        </p:nvSpPr>
        <p:spPr>
          <a:xfrm>
            <a:off x="8321040" y="1554480"/>
            <a:ext cx="365760" cy="457200"/>
          </a:xfrm>
          <a:prstGeom prst="rect">
            <a:avLst/>
          </a:prstGeom>
          <a:noFill/>
          <a:ln/>
        </p:spPr>
        <p:txBody>
          <a:bodyPr wrap="square" lIns="0" tIns="0" rIns="0" bIns="0" rtlCol="0" anchor="ctr"/>
          <a:lstStyle/>
          <a:p>
            <a:pPr algn="ctr" indent="0" marL="0">
              <a:buNone/>
            </a:pPr>
            <a:r>
              <a:rPr lang="en-US" sz="900" b="1" dirty="0">
                <a:solidFill>
                  <a:schemeClr val="bg1"/>
                </a:solidFill>
              </a:rPr>
              <a:t>Amber</a:t>
            </a:r>
            <a:endParaRPr lang="en-US" sz="900" dirty="0"/>
          </a:p>
        </p:txBody>
      </p:sp>
      <p:sp>
        <p:nvSpPr>
          <p:cNvPr id="16" name="Text 14"/>
          <p:cNvSpPr txBox="1"/>
          <p:nvPr/>
        </p:nvSpPr>
        <p:spPr>
          <a:xfrm>
            <a:off x="8869680" y="1527048"/>
            <a:ext cx="2606040" cy="548640"/>
          </a:xfrm>
          <a:prstGeom prst="rect">
            <a:avLst/>
          </a:prstGeom>
          <a:noFill/>
          <a:ln/>
        </p:spPr>
        <p:txBody>
          <a:bodyPr wrap="square" lIns="0" tIns="0" rIns="0" bIns="0" rtlCol="0" anchor="ctr"/>
          <a:lstStyle/>
          <a:p>
            <a:pPr indent="0" marL="0">
              <a:buNone/>
            </a:pPr>
            <a:r>
              <a:rPr lang="en-US" sz="1300" b="1" dirty="0">
                <a:solidFill>
                  <a:schemeClr val="tx2"/>
                </a:solidFill>
              </a:rPr>
              <a:t>D3  Training and enablement</a:t>
            </a:r>
            <a:endParaRPr lang="en-US" sz="1300" dirty="0"/>
          </a:p>
        </p:txBody>
      </p:sp>
      <p:sp>
        <p:nvSpPr>
          <p:cNvPr id="17" name="Text 15"/>
          <p:cNvSpPr txBox="1"/>
          <p:nvPr/>
        </p:nvSpPr>
        <p:spPr>
          <a:xfrm>
            <a:off x="8275320" y="2194560"/>
            <a:ext cx="3108960" cy="960120"/>
          </a:xfrm>
          <a:prstGeom prst="rect">
            <a:avLst/>
          </a:prstGeom>
          <a:noFill/>
          <a:ln/>
        </p:spPr>
        <p:txBody>
          <a:bodyPr wrap="square" lIns="0" tIns="0" rIns="0" bIns="0" rtlCol="0" anchor="t"/>
          <a:lstStyle/>
          <a:p>
            <a:pPr indent="0" marL="0">
              <a:buNone/>
            </a:pPr>
            <a:r>
              <a:rPr lang="en-US" sz="1150" dirty="0">
                <a:solidFill>
                  <a:schemeClr val="tx1"/>
                </a:solidFill>
              </a:rPr>
              <a:t>Training 88% vs 95%; 12 of 14 floorwalkers; procedures 94% published</a:t>
            </a:r>
            <a:endParaRPr lang="en-US" sz="1150" dirty="0"/>
          </a:p>
        </p:txBody>
      </p:sp>
      <p:sp>
        <p:nvSpPr>
          <p:cNvPr id="18" name="card D4"/>
          <p:cNvSpPr/>
          <p:nvPr/>
        </p:nvSpPr>
        <p:spPr>
          <a:xfrm>
            <a:off x="548640" y="3474720"/>
            <a:ext cx="3566160" cy="1920240"/>
          </a:xfrm>
          <a:prstGeom prst="roundRect">
            <a:avLst>
              <a:gd name="adj" fmla="val 3810"/>
            </a:avLst>
          </a:prstGeom>
          <a:solidFill>
            <a:schemeClr val="bg2"/>
          </a:solidFill>
          <a:ln w="12700">
            <a:solidFill>
              <a:schemeClr val="bg2"/>
            </a:solidFill>
            <a:prstDash val="solid"/>
          </a:ln>
        </p:spPr>
      </p:sp>
      <p:sp>
        <p:nvSpPr>
          <p:cNvPr id="19" name="rag D4"/>
          <p:cNvSpPr/>
          <p:nvPr/>
        </p:nvSpPr>
        <p:spPr>
          <a:xfrm>
            <a:off x="777240" y="3703320"/>
            <a:ext cx="457200" cy="457200"/>
          </a:xfrm>
          <a:prstGeom prst="ellipse">
            <a:avLst/>
          </a:prstGeom>
          <a:solidFill>
            <a:srgbClr val="EF6C00"/>
          </a:solidFill>
          <a:ln w="12700">
            <a:solidFill>
              <a:srgbClr val="EF6C00"/>
            </a:solidFill>
            <a:prstDash val="solid"/>
          </a:ln>
        </p:spPr>
      </p:sp>
      <p:sp>
        <p:nvSpPr>
          <p:cNvPr id="20" name="Text 18"/>
          <p:cNvSpPr txBox="1"/>
          <p:nvPr/>
        </p:nvSpPr>
        <p:spPr>
          <a:xfrm>
            <a:off x="822960" y="3703320"/>
            <a:ext cx="365760" cy="457200"/>
          </a:xfrm>
          <a:prstGeom prst="rect">
            <a:avLst/>
          </a:prstGeom>
          <a:noFill/>
          <a:ln/>
        </p:spPr>
        <p:txBody>
          <a:bodyPr wrap="square" lIns="0" tIns="0" rIns="0" bIns="0" rtlCol="0" anchor="ctr"/>
          <a:lstStyle/>
          <a:p>
            <a:pPr algn="ctr" indent="0" marL="0">
              <a:buNone/>
            </a:pPr>
            <a:r>
              <a:rPr lang="en-US" sz="900" b="1" dirty="0">
                <a:solidFill>
                  <a:schemeClr val="bg1"/>
                </a:solidFill>
              </a:rPr>
              <a:t>Amber</a:t>
            </a:r>
            <a:endParaRPr lang="en-US" sz="900" dirty="0"/>
          </a:p>
        </p:txBody>
      </p:sp>
      <p:sp>
        <p:nvSpPr>
          <p:cNvPr id="21" name="Text 19"/>
          <p:cNvSpPr txBox="1"/>
          <p:nvPr/>
        </p:nvSpPr>
        <p:spPr>
          <a:xfrm>
            <a:off x="1371600" y="3675888"/>
            <a:ext cx="2606040" cy="548640"/>
          </a:xfrm>
          <a:prstGeom prst="rect">
            <a:avLst/>
          </a:prstGeom>
          <a:noFill/>
          <a:ln/>
        </p:spPr>
        <p:txBody>
          <a:bodyPr wrap="square" lIns="0" tIns="0" rIns="0" bIns="0" rtlCol="0" anchor="ctr"/>
          <a:lstStyle/>
          <a:p>
            <a:pPr indent="0" marL="0">
              <a:buNone/>
            </a:pPr>
            <a:r>
              <a:rPr lang="en-US" sz="1300" b="1" dirty="0">
                <a:solidFill>
                  <a:schemeClr val="tx2"/>
                </a:solidFill>
              </a:rPr>
              <a:t>D4  Technology cut-over and decommissioning</a:t>
            </a:r>
            <a:endParaRPr lang="en-US" sz="1300" dirty="0"/>
          </a:p>
        </p:txBody>
      </p:sp>
      <p:sp>
        <p:nvSpPr>
          <p:cNvPr id="22" name="Text 20"/>
          <p:cNvSpPr txBox="1"/>
          <p:nvPr/>
        </p:nvSpPr>
        <p:spPr>
          <a:xfrm>
            <a:off x="777240" y="4343400"/>
            <a:ext cx="3108960" cy="960120"/>
          </a:xfrm>
          <a:prstGeom prst="rect">
            <a:avLst/>
          </a:prstGeom>
          <a:noFill/>
          <a:ln/>
        </p:spPr>
        <p:txBody>
          <a:bodyPr wrap="square" lIns="0" tIns="0" rIns="0" bIns="0" rtlCol="0" anchor="t"/>
          <a:lstStyle/>
          <a:p>
            <a:pPr indent="0" marL="0">
              <a:buNone/>
            </a:pPr>
            <a:r>
              <a:rPr lang="en-US" sz="1150" dirty="0">
                <a:solidFill>
                  <a:schemeClr val="tx1"/>
                </a:solidFill>
              </a:rPr>
              <a:t>DR1 margin 1h15 vs 2h target; rollback partially tested; DEF-209 open</a:t>
            </a:r>
            <a:endParaRPr lang="en-US" sz="1150" dirty="0"/>
          </a:p>
        </p:txBody>
      </p:sp>
      <p:sp>
        <p:nvSpPr>
          <p:cNvPr id="23" name="card D5"/>
          <p:cNvSpPr/>
          <p:nvPr/>
        </p:nvSpPr>
        <p:spPr>
          <a:xfrm>
            <a:off x="4297680" y="3474720"/>
            <a:ext cx="3566160" cy="1920240"/>
          </a:xfrm>
          <a:prstGeom prst="roundRect">
            <a:avLst>
              <a:gd name="adj" fmla="val 3810"/>
            </a:avLst>
          </a:prstGeom>
          <a:solidFill>
            <a:schemeClr val="bg2"/>
          </a:solidFill>
          <a:ln w="12700">
            <a:solidFill>
              <a:schemeClr val="bg2"/>
            </a:solidFill>
            <a:prstDash val="solid"/>
          </a:ln>
        </p:spPr>
      </p:sp>
      <p:sp>
        <p:nvSpPr>
          <p:cNvPr id="24" name="rag D5"/>
          <p:cNvSpPr/>
          <p:nvPr/>
        </p:nvSpPr>
        <p:spPr>
          <a:xfrm>
            <a:off x="4526280" y="3703320"/>
            <a:ext cx="457200" cy="457200"/>
          </a:xfrm>
          <a:prstGeom prst="ellipse">
            <a:avLst/>
          </a:prstGeom>
          <a:solidFill>
            <a:srgbClr val="EF6C00"/>
          </a:solidFill>
          <a:ln w="12700">
            <a:solidFill>
              <a:srgbClr val="EF6C00"/>
            </a:solidFill>
            <a:prstDash val="solid"/>
          </a:ln>
        </p:spPr>
      </p:sp>
      <p:sp>
        <p:nvSpPr>
          <p:cNvPr id="25" name="Text 23"/>
          <p:cNvSpPr txBox="1"/>
          <p:nvPr/>
        </p:nvSpPr>
        <p:spPr>
          <a:xfrm>
            <a:off x="4572000" y="3703320"/>
            <a:ext cx="365760" cy="457200"/>
          </a:xfrm>
          <a:prstGeom prst="rect">
            <a:avLst/>
          </a:prstGeom>
          <a:noFill/>
          <a:ln/>
        </p:spPr>
        <p:txBody>
          <a:bodyPr wrap="square" lIns="0" tIns="0" rIns="0" bIns="0" rtlCol="0" anchor="ctr"/>
          <a:lstStyle/>
          <a:p>
            <a:pPr algn="ctr" indent="0" marL="0">
              <a:buNone/>
            </a:pPr>
            <a:r>
              <a:rPr lang="en-US" sz="900" b="1" dirty="0">
                <a:solidFill>
                  <a:schemeClr val="bg1"/>
                </a:solidFill>
              </a:rPr>
              <a:t>Amber</a:t>
            </a:r>
            <a:endParaRPr lang="en-US" sz="900" dirty="0"/>
          </a:p>
        </p:txBody>
      </p:sp>
      <p:sp>
        <p:nvSpPr>
          <p:cNvPr id="26" name="Text 24"/>
          <p:cNvSpPr txBox="1"/>
          <p:nvPr/>
        </p:nvSpPr>
        <p:spPr>
          <a:xfrm>
            <a:off x="5120640" y="3675888"/>
            <a:ext cx="2606040" cy="548640"/>
          </a:xfrm>
          <a:prstGeom prst="rect">
            <a:avLst/>
          </a:prstGeom>
          <a:noFill/>
          <a:ln/>
        </p:spPr>
        <p:txBody>
          <a:bodyPr wrap="square" lIns="0" tIns="0" rIns="0" bIns="0" rtlCol="0" anchor="ctr"/>
          <a:lstStyle/>
          <a:p>
            <a:pPr indent="0" marL="0">
              <a:buNone/>
            </a:pPr>
            <a:r>
              <a:rPr lang="en-US" sz="1300" b="1" dirty="0">
                <a:solidFill>
                  <a:schemeClr val="tx2"/>
                </a:solidFill>
              </a:rPr>
              <a:t>D5  Regulatory, risk and control sign-off</a:t>
            </a:r>
            <a:endParaRPr lang="en-US" sz="1300" dirty="0"/>
          </a:p>
        </p:txBody>
      </p:sp>
      <p:sp>
        <p:nvSpPr>
          <p:cNvPr id="27" name="Text 25"/>
          <p:cNvSpPr txBox="1"/>
          <p:nvPr/>
        </p:nvSpPr>
        <p:spPr>
          <a:xfrm>
            <a:off x="4526280" y="4343400"/>
            <a:ext cx="3108960" cy="960120"/>
          </a:xfrm>
          <a:prstGeom prst="rect">
            <a:avLst/>
          </a:prstGeom>
          <a:noFill/>
          <a:ln/>
        </p:spPr>
        <p:txBody>
          <a:bodyPr wrap="square" lIns="0" tIns="0" rIns="0" bIns="0" rtlCol="0" anchor="t"/>
          <a:lstStyle/>
          <a:p>
            <a:pPr indent="0" marL="0">
              <a:buNone/>
            </a:pPr>
            <a:r>
              <a:rPr lang="en-US" sz="1150" dirty="0">
                <a:solidFill>
                  <a:schemeClr val="tx1"/>
                </a:solidFill>
              </a:rPr>
              <a:t>Op Risk approval forecast 13 Nov; controls tested 90%; retention plan agreed</a:t>
            </a:r>
            <a:endParaRPr lang="en-US" sz="1150" dirty="0"/>
          </a:p>
        </p:txBody>
      </p:sp>
      <p:sp>
        <p:nvSpPr>
          <p:cNvPr id="28" name="card D6"/>
          <p:cNvSpPr/>
          <p:nvPr/>
        </p:nvSpPr>
        <p:spPr>
          <a:xfrm>
            <a:off x="8046720" y="3474720"/>
            <a:ext cx="3566160" cy="1920240"/>
          </a:xfrm>
          <a:prstGeom prst="roundRect">
            <a:avLst>
              <a:gd name="adj" fmla="val 3810"/>
            </a:avLst>
          </a:prstGeom>
          <a:solidFill>
            <a:schemeClr val="bg2"/>
          </a:solidFill>
          <a:ln w="12700">
            <a:solidFill>
              <a:schemeClr val="bg2"/>
            </a:solidFill>
            <a:prstDash val="solid"/>
          </a:ln>
        </p:spPr>
      </p:sp>
      <p:sp>
        <p:nvSpPr>
          <p:cNvPr id="29" name="rag D6"/>
          <p:cNvSpPr/>
          <p:nvPr/>
        </p:nvSpPr>
        <p:spPr>
          <a:xfrm>
            <a:off x="8275320" y="3703320"/>
            <a:ext cx="457200" cy="457200"/>
          </a:xfrm>
          <a:prstGeom prst="ellipse">
            <a:avLst/>
          </a:prstGeom>
          <a:solidFill>
            <a:srgbClr val="C62828"/>
          </a:solidFill>
          <a:ln w="12700">
            <a:solidFill>
              <a:srgbClr val="C62828"/>
            </a:solidFill>
            <a:prstDash val="solid"/>
          </a:ln>
        </p:spPr>
      </p:sp>
      <p:sp>
        <p:nvSpPr>
          <p:cNvPr id="30" name="Text 28"/>
          <p:cNvSpPr txBox="1"/>
          <p:nvPr/>
        </p:nvSpPr>
        <p:spPr>
          <a:xfrm>
            <a:off x="8321040" y="3703320"/>
            <a:ext cx="365760" cy="457200"/>
          </a:xfrm>
          <a:prstGeom prst="rect">
            <a:avLst/>
          </a:prstGeom>
          <a:noFill/>
          <a:ln/>
        </p:spPr>
        <p:txBody>
          <a:bodyPr wrap="square" lIns="0" tIns="0" rIns="0" bIns="0" rtlCol="0" anchor="ctr"/>
          <a:lstStyle/>
          <a:p>
            <a:pPr algn="ctr" indent="0" marL="0">
              <a:buNone/>
            </a:pPr>
            <a:r>
              <a:rPr lang="en-US" sz="900" b="1" dirty="0">
                <a:solidFill>
                  <a:schemeClr val="bg1"/>
                </a:solidFill>
              </a:rPr>
              <a:t>Red</a:t>
            </a:r>
            <a:endParaRPr lang="en-US" sz="900" dirty="0"/>
          </a:p>
        </p:txBody>
      </p:sp>
      <p:sp>
        <p:nvSpPr>
          <p:cNvPr id="31" name="Text 29"/>
          <p:cNvSpPr txBox="1"/>
          <p:nvPr/>
        </p:nvSpPr>
        <p:spPr>
          <a:xfrm>
            <a:off x="8869680" y="3675888"/>
            <a:ext cx="2606040" cy="548640"/>
          </a:xfrm>
          <a:prstGeom prst="rect">
            <a:avLst/>
          </a:prstGeom>
          <a:noFill/>
          <a:ln/>
        </p:spPr>
        <p:txBody>
          <a:bodyPr wrap="square" lIns="0" tIns="0" rIns="0" bIns="0" rtlCol="0" anchor="ctr"/>
          <a:lstStyle/>
          <a:p>
            <a:pPr indent="0" marL="0">
              <a:buNone/>
            </a:pPr>
            <a:r>
              <a:rPr lang="en-US" sz="1300" b="1" dirty="0">
                <a:solidFill>
                  <a:schemeClr val="tx2"/>
                </a:solidFill>
              </a:rPr>
              <a:t>D6  Operational capacity and service continuity</a:t>
            </a:r>
            <a:endParaRPr lang="en-US" sz="1300" dirty="0"/>
          </a:p>
        </p:txBody>
      </p:sp>
      <p:sp>
        <p:nvSpPr>
          <p:cNvPr id="32" name="Text 30"/>
          <p:cNvSpPr txBox="1"/>
          <p:nvPr/>
        </p:nvSpPr>
        <p:spPr>
          <a:xfrm>
            <a:off x="8275320" y="4343400"/>
            <a:ext cx="3108960" cy="960120"/>
          </a:xfrm>
          <a:prstGeom prst="rect">
            <a:avLst/>
          </a:prstGeom>
          <a:noFill/>
          <a:ln/>
        </p:spPr>
        <p:txBody>
          <a:bodyPr wrap="square" lIns="0" tIns="0" rIns="0" bIns="0" rtlCol="0" anchor="t"/>
          <a:lstStyle/>
          <a:p>
            <a:pPr indent="0" marL="0">
              <a:buNone/>
            </a:pPr>
            <a:r>
              <a:rPr lang="en-US" sz="1150" dirty="0">
                <a:solidFill>
                  <a:schemeClr val="tx1"/>
                </a:solidFill>
              </a:rPr>
              <a:t>Hypercare staffing 86% of model (50 of 58 FTE); 120% load test not yet run</a:t>
            </a:r>
            <a:endParaRPr lang="en-US" sz="1150" dirty="0"/>
          </a:p>
        </p:txBody>
      </p:sp>
      <p:sp>
        <p:nvSpPr>
          <p:cNvPr id="33" name="Text 31"/>
          <p:cNvSpPr txBox="1"/>
          <p:nvPr/>
        </p:nvSpPr>
        <p:spPr>
          <a:xfrm>
            <a:off x="548640" y="5715000"/>
            <a:ext cx="11064240" cy="548640"/>
          </a:xfrm>
          <a:prstGeom prst="rect">
            <a:avLst/>
          </a:prstGeom>
          <a:noFill/>
          <a:ln/>
        </p:spPr>
        <p:txBody>
          <a:bodyPr wrap="square" lIns="0" tIns="0" rIns="0" bIns="0" rtlCol="0" anchor="ctr"/>
          <a:lstStyle/>
          <a:p>
            <a:pPr indent="0" marL="0">
              <a:buNone/>
            </a:pPr>
            <a:r>
              <a:rPr lang="en-US" sz="1100" i="1" dirty="0">
                <a:solidFill>
                  <a:schemeClr val="accent5"/>
                </a:solidFill>
              </a:rPr>
              <a:t>Rule applied: red in D6 only, which is not a critical dimension (D1, D4, D5). A conditional go requires a SteerCo-approved mitigation for D6, tracked daily, and owners plus closure dates for every amber before cut-over. Source: readiness_kpis.csv, framework section 4.</a:t>
            </a:r>
            <a:endParaRPr lang="en-US" sz="11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C99"/>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lstStyle/>
          <a:p>
            <a:pPr algn="l" indent="0" marL="0">
              <a:buNone/>
            </a:pPr>
            <a:r>
              <a:rPr lang="en-US" sz="2800" b="1" dirty="0">
                <a:solidFill>
                  <a:schemeClr val="tx2"/>
                </a:solidFill>
              </a:rPr>
              <a:t>Three inputs to the decision paper now land after the paper is due</a:t>
            </a:r>
            <a:endParaRPr lang="en-US" sz="2800" dirty="0"/>
          </a:p>
        </p:txBody>
      </p:sp>
      <p:sp>
        <p:nvSpPr>
          <p:cNvPr id="3" name="timeline"/>
          <p:cNvSpPr/>
          <p:nvPr/>
        </p:nvSpPr>
        <p:spPr>
          <a:xfrm>
            <a:off x="822960" y="2926080"/>
            <a:ext cx="10515600" cy="0"/>
          </a:xfrm>
          <a:prstGeom prst="line">
            <a:avLst/>
          </a:prstGeom>
          <a:noFill/>
          <a:ln w="25400">
            <a:solidFill>
              <a:schemeClr val="accent6"/>
            </a:solidFill>
            <a:prstDash val="solid"/>
          </a:ln>
        </p:spPr>
      </p:sp>
      <p:sp>
        <p:nvSpPr>
          <p:cNvPr id="4" name="ev 0"/>
          <p:cNvSpPr/>
          <p:nvPr/>
        </p:nvSpPr>
        <p:spPr>
          <a:xfrm>
            <a:off x="722376" y="2825496"/>
            <a:ext cx="201168" cy="201168"/>
          </a:xfrm>
          <a:prstGeom prst="ellipse">
            <a:avLst/>
          </a:prstGeom>
          <a:solidFill>
            <a:schemeClr val="accent5"/>
          </a:solidFill>
          <a:ln w="12700">
            <a:solidFill>
              <a:schemeClr val="accent5"/>
            </a:solidFill>
            <a:prstDash val="solid"/>
          </a:ln>
        </p:spPr>
      </p:sp>
      <p:sp>
        <p:nvSpPr>
          <p:cNvPr id="5" name="Text 3"/>
          <p:cNvSpPr txBox="1"/>
          <p:nvPr/>
        </p:nvSpPr>
        <p:spPr>
          <a:xfrm>
            <a:off x="91440" y="1783080"/>
            <a:ext cx="1463040" cy="868680"/>
          </a:xfrm>
          <a:prstGeom prst="rect">
            <a:avLst/>
          </a:prstGeom>
          <a:noFill/>
          <a:ln/>
        </p:spPr>
        <p:txBody>
          <a:bodyPr wrap="square" lIns="0" tIns="0" rIns="0" bIns="0" rtlCol="0" anchor="b"/>
          <a:lstStyle/>
          <a:p>
            <a:pPr algn="ctr" indent="0" marL="0">
              <a:buNone/>
            </a:pPr>
            <a:r>
              <a:rPr lang="en-US" sz="1050" dirty="0">
                <a:solidFill>
                  <a:schemeClr val="tx1"/>
                </a:solidFill>
              </a:rPr>
              <a:t>Today</a:t>
            </a:r>
            <a:endParaRPr lang="en-US" sz="1050" dirty="0"/>
          </a:p>
        </p:txBody>
      </p:sp>
      <p:sp>
        <p:nvSpPr>
          <p:cNvPr id="6" name="Text 4"/>
          <p:cNvSpPr txBox="1"/>
          <p:nvPr/>
        </p:nvSpPr>
        <p:spPr>
          <a:xfrm>
            <a:off x="365760" y="3108960"/>
            <a:ext cx="914400" cy="228600"/>
          </a:xfrm>
          <a:prstGeom prst="rect">
            <a:avLst/>
          </a:prstGeom>
          <a:noFill/>
          <a:ln/>
        </p:spPr>
        <p:txBody>
          <a:bodyPr wrap="square" lIns="0" tIns="0" rIns="0" bIns="0" rtlCol="0" anchor="ctr"/>
          <a:lstStyle/>
          <a:p>
            <a:pPr algn="ctr" indent="0" marL="0">
              <a:buNone/>
            </a:pPr>
            <a:r>
              <a:rPr lang="en-US" sz="900" dirty="0">
                <a:solidFill>
                  <a:schemeClr val="accent5"/>
                </a:solidFill>
              </a:rPr>
              <a:t>9 Oct</a:t>
            </a:r>
            <a:endParaRPr lang="en-US" sz="900" dirty="0"/>
          </a:p>
        </p:txBody>
      </p:sp>
      <p:sp>
        <p:nvSpPr>
          <p:cNvPr id="7" name="ev 1"/>
          <p:cNvSpPr/>
          <p:nvPr/>
        </p:nvSpPr>
        <p:spPr>
          <a:xfrm>
            <a:off x="2036826" y="2825496"/>
            <a:ext cx="201168" cy="201168"/>
          </a:xfrm>
          <a:prstGeom prst="ellipse">
            <a:avLst/>
          </a:prstGeom>
          <a:solidFill>
            <a:schemeClr val="accent3"/>
          </a:solidFill>
          <a:ln w="12700">
            <a:solidFill>
              <a:schemeClr val="accent3"/>
            </a:solidFill>
            <a:prstDash val="solid"/>
          </a:ln>
        </p:spPr>
      </p:sp>
      <p:sp>
        <p:nvSpPr>
          <p:cNvPr id="8" name="Text 6"/>
          <p:cNvSpPr txBox="1"/>
          <p:nvPr/>
        </p:nvSpPr>
        <p:spPr>
          <a:xfrm>
            <a:off x="1405890" y="3154680"/>
            <a:ext cx="1463040" cy="868680"/>
          </a:xfrm>
          <a:prstGeom prst="rect">
            <a:avLst/>
          </a:prstGeom>
          <a:noFill/>
          <a:ln/>
        </p:spPr>
        <p:txBody>
          <a:bodyPr wrap="square" lIns="0" tIns="0" rIns="0" bIns="0" rtlCol="0" anchor="t"/>
          <a:lstStyle/>
          <a:p>
            <a:pPr algn="ctr" indent="0" marL="0">
              <a:buNone/>
            </a:pPr>
            <a:r>
              <a:rPr lang="en-US" sz="1050" b="1" dirty="0">
                <a:solidFill>
                  <a:schemeClr val="tx1"/>
                </a:solidFill>
              </a:rPr>
              <a:t>Mock 3</a:t>
            </a:r>
            <a:endParaRPr lang="en-US" sz="1050" dirty="0"/>
          </a:p>
          <a:p>
            <a:pPr algn="ctr" indent="0" marL="0">
              <a:buNone/>
            </a:pPr>
            <a:r>
              <a:rPr lang="en-US" sz="1050" b="1" dirty="0">
                <a:solidFill>
                  <a:schemeClr val="tx1"/>
                </a:solidFill>
              </a:rPr>
              <a:t>(was 10 Oct)</a:t>
            </a:r>
            <a:endParaRPr lang="en-US" sz="1050" dirty="0"/>
          </a:p>
        </p:txBody>
      </p:sp>
      <p:sp>
        <p:nvSpPr>
          <p:cNvPr id="9" name="Text 7"/>
          <p:cNvSpPr txBox="1"/>
          <p:nvPr/>
        </p:nvSpPr>
        <p:spPr>
          <a:xfrm>
            <a:off x="1680210" y="2514600"/>
            <a:ext cx="914400" cy="228600"/>
          </a:xfrm>
          <a:prstGeom prst="rect">
            <a:avLst/>
          </a:prstGeom>
          <a:noFill/>
          <a:ln/>
        </p:spPr>
        <p:txBody>
          <a:bodyPr wrap="square" lIns="0" tIns="0" rIns="0" bIns="0" rtlCol="0" anchor="ctr"/>
          <a:lstStyle/>
          <a:p>
            <a:pPr algn="ctr" indent="0" marL="0">
              <a:buNone/>
            </a:pPr>
            <a:r>
              <a:rPr lang="en-US" sz="900" dirty="0">
                <a:solidFill>
                  <a:schemeClr val="accent5"/>
                </a:solidFill>
              </a:rPr>
              <a:t>17 Oct</a:t>
            </a:r>
            <a:endParaRPr lang="en-US" sz="900" dirty="0"/>
          </a:p>
        </p:txBody>
      </p:sp>
      <p:sp>
        <p:nvSpPr>
          <p:cNvPr id="10" name="ev 2"/>
          <p:cNvSpPr/>
          <p:nvPr/>
        </p:nvSpPr>
        <p:spPr>
          <a:xfrm>
            <a:off x="3351276" y="2825496"/>
            <a:ext cx="201168" cy="201168"/>
          </a:xfrm>
          <a:prstGeom prst="ellipse">
            <a:avLst/>
          </a:prstGeom>
          <a:solidFill>
            <a:schemeClr val="accent3"/>
          </a:solidFill>
          <a:ln w="12700">
            <a:solidFill>
              <a:schemeClr val="accent3"/>
            </a:solidFill>
            <a:prstDash val="solid"/>
          </a:ln>
        </p:spPr>
      </p:sp>
      <p:sp>
        <p:nvSpPr>
          <p:cNvPr id="11" name="Text 9"/>
          <p:cNvSpPr txBox="1"/>
          <p:nvPr/>
        </p:nvSpPr>
        <p:spPr>
          <a:xfrm>
            <a:off x="2720340" y="1783080"/>
            <a:ext cx="1463040" cy="868680"/>
          </a:xfrm>
          <a:prstGeom prst="rect">
            <a:avLst/>
          </a:prstGeom>
          <a:noFill/>
          <a:ln/>
        </p:spPr>
        <p:txBody>
          <a:bodyPr wrap="square" lIns="0" tIns="0" rIns="0" bIns="0" rtlCol="0" anchor="b"/>
          <a:lstStyle/>
          <a:p>
            <a:pPr algn="ctr" indent="0" marL="0">
              <a:buNone/>
            </a:pPr>
            <a:r>
              <a:rPr lang="en-US" sz="1050" b="1" dirty="0">
                <a:solidFill>
                  <a:schemeClr val="tx1"/>
                </a:solidFill>
              </a:rPr>
              <a:t>Batch fix deployed</a:t>
            </a:r>
            <a:endParaRPr lang="en-US" sz="1050" dirty="0"/>
          </a:p>
          <a:p>
            <a:pPr algn="ctr" indent="0" marL="0">
              <a:buNone/>
            </a:pPr>
            <a:r>
              <a:rPr lang="en-US" sz="1050" b="1" dirty="0">
                <a:solidFill>
                  <a:schemeClr val="tx1"/>
                </a:solidFill>
              </a:rPr>
              <a:t>(was 16 Oct)</a:t>
            </a:r>
            <a:endParaRPr lang="en-US" sz="1050" dirty="0"/>
          </a:p>
        </p:txBody>
      </p:sp>
      <p:sp>
        <p:nvSpPr>
          <p:cNvPr id="12" name="Text 10"/>
          <p:cNvSpPr txBox="1"/>
          <p:nvPr/>
        </p:nvSpPr>
        <p:spPr>
          <a:xfrm>
            <a:off x="2994660" y="3108960"/>
            <a:ext cx="914400" cy="228600"/>
          </a:xfrm>
          <a:prstGeom prst="rect">
            <a:avLst/>
          </a:prstGeom>
          <a:noFill/>
          <a:ln/>
        </p:spPr>
        <p:txBody>
          <a:bodyPr wrap="square" lIns="0" tIns="0" rIns="0" bIns="0" rtlCol="0" anchor="ctr"/>
          <a:lstStyle/>
          <a:p>
            <a:pPr algn="ctr" indent="0" marL="0">
              <a:buNone/>
            </a:pPr>
            <a:r>
              <a:rPr lang="en-US" sz="900" dirty="0">
                <a:solidFill>
                  <a:schemeClr val="accent5"/>
                </a:solidFill>
              </a:rPr>
              <a:t>23 Oct</a:t>
            </a:r>
            <a:endParaRPr lang="en-US" sz="900" dirty="0"/>
          </a:p>
        </p:txBody>
      </p:sp>
      <p:sp>
        <p:nvSpPr>
          <p:cNvPr id="13" name="ev 3"/>
          <p:cNvSpPr/>
          <p:nvPr/>
        </p:nvSpPr>
        <p:spPr>
          <a:xfrm>
            <a:off x="4665726" y="2825496"/>
            <a:ext cx="201168" cy="201168"/>
          </a:xfrm>
          <a:prstGeom prst="ellipse">
            <a:avLst/>
          </a:prstGeom>
          <a:solidFill>
            <a:schemeClr val="accent1"/>
          </a:solidFill>
          <a:ln w="12700">
            <a:solidFill>
              <a:schemeClr val="accent1"/>
            </a:solidFill>
            <a:prstDash val="solid"/>
          </a:ln>
        </p:spPr>
      </p:sp>
      <p:sp>
        <p:nvSpPr>
          <p:cNvPr id="14" name="Text 12"/>
          <p:cNvSpPr txBox="1"/>
          <p:nvPr/>
        </p:nvSpPr>
        <p:spPr>
          <a:xfrm>
            <a:off x="4034790" y="3154680"/>
            <a:ext cx="1463040" cy="868680"/>
          </a:xfrm>
          <a:prstGeom prst="rect">
            <a:avLst/>
          </a:prstGeom>
          <a:noFill/>
          <a:ln/>
        </p:spPr>
        <p:txBody>
          <a:bodyPr wrap="square" lIns="0" tIns="0" rIns="0" bIns="0" rtlCol="0" anchor="t"/>
          <a:lstStyle/>
          <a:p>
            <a:pPr algn="ctr" indent="0" marL="0">
              <a:buNone/>
            </a:pPr>
            <a:r>
              <a:rPr lang="en-US" sz="1050" b="1" dirty="0">
                <a:solidFill>
                  <a:schemeClr val="tx1"/>
                </a:solidFill>
              </a:rPr>
              <a:t>Decision paper due</a:t>
            </a:r>
            <a:endParaRPr lang="en-US" sz="1050" dirty="0"/>
          </a:p>
        </p:txBody>
      </p:sp>
      <p:sp>
        <p:nvSpPr>
          <p:cNvPr id="15" name="Text 13"/>
          <p:cNvSpPr txBox="1"/>
          <p:nvPr/>
        </p:nvSpPr>
        <p:spPr>
          <a:xfrm>
            <a:off x="4309110" y="2514600"/>
            <a:ext cx="914400" cy="228600"/>
          </a:xfrm>
          <a:prstGeom prst="rect">
            <a:avLst/>
          </a:prstGeom>
          <a:noFill/>
          <a:ln/>
        </p:spPr>
        <p:txBody>
          <a:bodyPr wrap="square" lIns="0" tIns="0" rIns="0" bIns="0" rtlCol="0" anchor="ctr"/>
          <a:lstStyle/>
          <a:p>
            <a:pPr algn="ctr" indent="0" marL="0">
              <a:buNone/>
            </a:pPr>
            <a:r>
              <a:rPr lang="en-US" sz="900" dirty="0">
                <a:solidFill>
                  <a:schemeClr val="accent5"/>
                </a:solidFill>
              </a:rPr>
              <a:t>4 Nov</a:t>
            </a:r>
            <a:endParaRPr lang="en-US" sz="900" dirty="0"/>
          </a:p>
        </p:txBody>
      </p:sp>
      <p:sp>
        <p:nvSpPr>
          <p:cNvPr id="16" name="ev 4"/>
          <p:cNvSpPr/>
          <p:nvPr/>
        </p:nvSpPr>
        <p:spPr>
          <a:xfrm>
            <a:off x="5980176" y="2825496"/>
            <a:ext cx="201168" cy="201168"/>
          </a:xfrm>
          <a:prstGeom prst="ellipse">
            <a:avLst/>
          </a:prstGeom>
          <a:solidFill>
            <a:schemeClr val="accent1"/>
          </a:solidFill>
          <a:ln w="12700">
            <a:solidFill>
              <a:schemeClr val="accent1"/>
            </a:solidFill>
            <a:prstDash val="solid"/>
          </a:ln>
        </p:spPr>
      </p:sp>
      <p:sp>
        <p:nvSpPr>
          <p:cNvPr id="17" name="Text 15"/>
          <p:cNvSpPr txBox="1"/>
          <p:nvPr/>
        </p:nvSpPr>
        <p:spPr>
          <a:xfrm>
            <a:off x="5349240" y="1783080"/>
            <a:ext cx="1463040" cy="868680"/>
          </a:xfrm>
          <a:prstGeom prst="rect">
            <a:avLst/>
          </a:prstGeom>
          <a:noFill/>
          <a:ln/>
        </p:spPr>
        <p:txBody>
          <a:bodyPr wrap="square" lIns="0" tIns="0" rIns="0" bIns="0" rtlCol="0" anchor="b"/>
          <a:lstStyle/>
          <a:p>
            <a:pPr algn="ctr" indent="0" marL="0">
              <a:buNone/>
            </a:pPr>
            <a:r>
              <a:rPr lang="en-US" sz="1050" b="1" dirty="0">
                <a:solidFill>
                  <a:schemeClr val="tx1"/>
                </a:solidFill>
              </a:rPr>
              <a:t>Go/no-go SteerCo</a:t>
            </a:r>
            <a:endParaRPr lang="en-US" sz="1050" dirty="0"/>
          </a:p>
        </p:txBody>
      </p:sp>
      <p:sp>
        <p:nvSpPr>
          <p:cNvPr id="18" name="Text 16"/>
          <p:cNvSpPr txBox="1"/>
          <p:nvPr/>
        </p:nvSpPr>
        <p:spPr>
          <a:xfrm>
            <a:off x="5623560" y="3108960"/>
            <a:ext cx="914400" cy="228600"/>
          </a:xfrm>
          <a:prstGeom prst="rect">
            <a:avLst/>
          </a:prstGeom>
          <a:noFill/>
          <a:ln/>
        </p:spPr>
        <p:txBody>
          <a:bodyPr wrap="square" lIns="0" tIns="0" rIns="0" bIns="0" rtlCol="0" anchor="ctr"/>
          <a:lstStyle/>
          <a:p>
            <a:pPr algn="ctr" indent="0" marL="0">
              <a:buNone/>
            </a:pPr>
            <a:r>
              <a:rPr lang="en-US" sz="900" dirty="0">
                <a:solidFill>
                  <a:schemeClr val="accent5"/>
                </a:solidFill>
              </a:rPr>
              <a:t>6 Nov</a:t>
            </a:r>
            <a:endParaRPr lang="en-US" sz="900" dirty="0"/>
          </a:p>
        </p:txBody>
      </p:sp>
      <p:sp>
        <p:nvSpPr>
          <p:cNvPr id="19" name="ev 5"/>
          <p:cNvSpPr/>
          <p:nvPr/>
        </p:nvSpPr>
        <p:spPr>
          <a:xfrm>
            <a:off x="7294626" y="2825496"/>
            <a:ext cx="201168" cy="201168"/>
          </a:xfrm>
          <a:prstGeom prst="ellipse">
            <a:avLst/>
          </a:prstGeom>
          <a:solidFill>
            <a:schemeClr val="accent2"/>
          </a:solidFill>
          <a:ln w="12700">
            <a:solidFill>
              <a:schemeClr val="accent2"/>
            </a:solidFill>
            <a:prstDash val="solid"/>
          </a:ln>
        </p:spPr>
      </p:sp>
      <p:sp>
        <p:nvSpPr>
          <p:cNvPr id="20" name="Text 18"/>
          <p:cNvSpPr txBox="1"/>
          <p:nvPr/>
        </p:nvSpPr>
        <p:spPr>
          <a:xfrm>
            <a:off x="6663690" y="3154680"/>
            <a:ext cx="1463040" cy="868680"/>
          </a:xfrm>
          <a:prstGeom prst="rect">
            <a:avLst/>
          </a:prstGeom>
          <a:noFill/>
          <a:ln/>
        </p:spPr>
        <p:txBody>
          <a:bodyPr wrap="square" lIns="0" tIns="0" rIns="0" bIns="0" rtlCol="0" anchor="t"/>
          <a:lstStyle/>
          <a:p>
            <a:pPr algn="ctr" indent="0" marL="0">
              <a:buNone/>
            </a:pPr>
            <a:r>
              <a:rPr lang="en-US" sz="1050" b="1" dirty="0">
                <a:solidFill>
                  <a:schemeClr val="tx1"/>
                </a:solidFill>
              </a:rPr>
              <a:t>DR2 + rollback</a:t>
            </a:r>
            <a:endParaRPr lang="en-US" sz="1050" dirty="0"/>
          </a:p>
          <a:p>
            <a:pPr algn="ctr" indent="0" marL="0">
              <a:buNone/>
            </a:pPr>
            <a:r>
              <a:rPr lang="en-US" sz="1050" b="1" dirty="0">
                <a:solidFill>
                  <a:schemeClr val="tx1"/>
                </a:solidFill>
              </a:rPr>
              <a:t>(was 31 Oct)</a:t>
            </a:r>
            <a:endParaRPr lang="en-US" sz="1050" dirty="0"/>
          </a:p>
        </p:txBody>
      </p:sp>
      <p:sp>
        <p:nvSpPr>
          <p:cNvPr id="21" name="Text 19"/>
          <p:cNvSpPr txBox="1"/>
          <p:nvPr/>
        </p:nvSpPr>
        <p:spPr>
          <a:xfrm>
            <a:off x="6938010" y="2514600"/>
            <a:ext cx="914400" cy="228600"/>
          </a:xfrm>
          <a:prstGeom prst="rect">
            <a:avLst/>
          </a:prstGeom>
          <a:noFill/>
          <a:ln/>
        </p:spPr>
        <p:txBody>
          <a:bodyPr wrap="square" lIns="0" tIns="0" rIns="0" bIns="0" rtlCol="0" anchor="ctr"/>
          <a:lstStyle/>
          <a:p>
            <a:pPr algn="ctr" indent="0" marL="0">
              <a:buNone/>
            </a:pPr>
            <a:r>
              <a:rPr lang="en-US" sz="900" dirty="0">
                <a:solidFill>
                  <a:schemeClr val="accent5"/>
                </a:solidFill>
              </a:rPr>
              <a:t>8 Nov</a:t>
            </a:r>
            <a:endParaRPr lang="en-US" sz="900" dirty="0"/>
          </a:p>
        </p:txBody>
      </p:sp>
      <p:sp>
        <p:nvSpPr>
          <p:cNvPr id="22" name="ev 6"/>
          <p:cNvSpPr/>
          <p:nvPr/>
        </p:nvSpPr>
        <p:spPr>
          <a:xfrm>
            <a:off x="8609076" y="2825496"/>
            <a:ext cx="201168" cy="201168"/>
          </a:xfrm>
          <a:prstGeom prst="ellipse">
            <a:avLst/>
          </a:prstGeom>
          <a:solidFill>
            <a:schemeClr val="accent2"/>
          </a:solidFill>
          <a:ln w="12700">
            <a:solidFill>
              <a:schemeClr val="accent2"/>
            </a:solidFill>
            <a:prstDash val="solid"/>
          </a:ln>
        </p:spPr>
      </p:sp>
      <p:sp>
        <p:nvSpPr>
          <p:cNvPr id="23" name="Text 21"/>
          <p:cNvSpPr txBox="1"/>
          <p:nvPr/>
        </p:nvSpPr>
        <p:spPr>
          <a:xfrm>
            <a:off x="7978140" y="1783080"/>
            <a:ext cx="1463040" cy="868680"/>
          </a:xfrm>
          <a:prstGeom prst="rect">
            <a:avLst/>
          </a:prstGeom>
          <a:noFill/>
          <a:ln/>
        </p:spPr>
        <p:txBody>
          <a:bodyPr wrap="square" lIns="0" tIns="0" rIns="0" bIns="0" rtlCol="0" anchor="b"/>
          <a:lstStyle/>
          <a:p>
            <a:pPr algn="ctr" indent="0" marL="0">
              <a:buNone/>
            </a:pPr>
            <a:r>
              <a:rPr lang="en-US" sz="1050" b="1" dirty="0">
                <a:solidFill>
                  <a:schemeClr val="tx1"/>
                </a:solidFill>
              </a:rPr>
              <a:t>Op Risk approval</a:t>
            </a:r>
            <a:endParaRPr lang="en-US" sz="1050" dirty="0"/>
          </a:p>
          <a:p>
            <a:pPr algn="ctr" indent="0" marL="0">
              <a:buNone/>
            </a:pPr>
            <a:r>
              <a:rPr lang="en-US" sz="1050" b="1" dirty="0">
                <a:solidFill>
                  <a:schemeClr val="tx1"/>
                </a:solidFill>
              </a:rPr>
              <a:t>(was 30 Oct)</a:t>
            </a:r>
            <a:endParaRPr lang="en-US" sz="1050" dirty="0"/>
          </a:p>
        </p:txBody>
      </p:sp>
      <p:sp>
        <p:nvSpPr>
          <p:cNvPr id="24" name="Text 22"/>
          <p:cNvSpPr txBox="1"/>
          <p:nvPr/>
        </p:nvSpPr>
        <p:spPr>
          <a:xfrm>
            <a:off x="8252460" y="3108960"/>
            <a:ext cx="914400" cy="228600"/>
          </a:xfrm>
          <a:prstGeom prst="rect">
            <a:avLst/>
          </a:prstGeom>
          <a:noFill/>
          <a:ln/>
        </p:spPr>
        <p:txBody>
          <a:bodyPr wrap="square" lIns="0" tIns="0" rIns="0" bIns="0" rtlCol="0" anchor="ctr"/>
          <a:lstStyle/>
          <a:p>
            <a:pPr algn="ctr" indent="0" marL="0">
              <a:buNone/>
            </a:pPr>
            <a:r>
              <a:rPr lang="en-US" sz="900" dirty="0">
                <a:solidFill>
                  <a:schemeClr val="accent5"/>
                </a:solidFill>
              </a:rPr>
              <a:t>13 Nov</a:t>
            </a:r>
            <a:endParaRPr lang="en-US" sz="900" dirty="0"/>
          </a:p>
        </p:txBody>
      </p:sp>
      <p:sp>
        <p:nvSpPr>
          <p:cNvPr id="25" name="ev 7"/>
          <p:cNvSpPr/>
          <p:nvPr/>
        </p:nvSpPr>
        <p:spPr>
          <a:xfrm>
            <a:off x="9923526" y="2825496"/>
            <a:ext cx="201168" cy="201168"/>
          </a:xfrm>
          <a:prstGeom prst="ellipse">
            <a:avLst/>
          </a:prstGeom>
          <a:solidFill>
            <a:schemeClr val="accent1"/>
          </a:solidFill>
          <a:ln w="12700">
            <a:solidFill>
              <a:schemeClr val="accent1"/>
            </a:solidFill>
            <a:prstDash val="solid"/>
          </a:ln>
        </p:spPr>
      </p:sp>
      <p:sp>
        <p:nvSpPr>
          <p:cNvPr id="26" name="Text 24"/>
          <p:cNvSpPr txBox="1"/>
          <p:nvPr/>
        </p:nvSpPr>
        <p:spPr>
          <a:xfrm>
            <a:off x="9292590" y="3154680"/>
            <a:ext cx="1463040" cy="868680"/>
          </a:xfrm>
          <a:prstGeom prst="rect">
            <a:avLst/>
          </a:prstGeom>
          <a:noFill/>
          <a:ln/>
        </p:spPr>
        <p:txBody>
          <a:bodyPr wrap="square" lIns="0" tIns="0" rIns="0" bIns="0" rtlCol="0" anchor="t"/>
          <a:lstStyle/>
          <a:p>
            <a:pPr algn="ctr" indent="0" marL="0">
              <a:buNone/>
            </a:pPr>
            <a:r>
              <a:rPr lang="en-US" sz="1050" b="1" dirty="0">
                <a:solidFill>
                  <a:schemeClr val="tx1"/>
                </a:solidFill>
              </a:rPr>
              <a:t>Final confirmation</a:t>
            </a:r>
            <a:endParaRPr lang="en-US" sz="1050" dirty="0"/>
          </a:p>
        </p:txBody>
      </p:sp>
      <p:sp>
        <p:nvSpPr>
          <p:cNvPr id="27" name="Text 25"/>
          <p:cNvSpPr txBox="1"/>
          <p:nvPr/>
        </p:nvSpPr>
        <p:spPr>
          <a:xfrm>
            <a:off x="9566910" y="2514600"/>
            <a:ext cx="914400" cy="228600"/>
          </a:xfrm>
          <a:prstGeom prst="rect">
            <a:avLst/>
          </a:prstGeom>
          <a:noFill/>
          <a:ln/>
        </p:spPr>
        <p:txBody>
          <a:bodyPr wrap="square" lIns="0" tIns="0" rIns="0" bIns="0" rtlCol="0" anchor="ctr"/>
          <a:lstStyle/>
          <a:p>
            <a:pPr algn="ctr" indent="0" marL="0">
              <a:buNone/>
            </a:pPr>
            <a:r>
              <a:rPr lang="en-US" sz="900" dirty="0">
                <a:solidFill>
                  <a:schemeClr val="accent5"/>
                </a:solidFill>
              </a:rPr>
              <a:t>18 Nov</a:t>
            </a:r>
            <a:endParaRPr lang="en-US" sz="900" dirty="0"/>
          </a:p>
        </p:txBody>
      </p:sp>
      <p:sp>
        <p:nvSpPr>
          <p:cNvPr id="28" name="ev 8"/>
          <p:cNvSpPr/>
          <p:nvPr/>
        </p:nvSpPr>
        <p:spPr>
          <a:xfrm>
            <a:off x="11237976" y="2825496"/>
            <a:ext cx="201168" cy="201168"/>
          </a:xfrm>
          <a:prstGeom prst="ellipse">
            <a:avLst/>
          </a:prstGeom>
          <a:solidFill>
            <a:schemeClr val="accent4"/>
          </a:solidFill>
          <a:ln w="12700">
            <a:solidFill>
              <a:schemeClr val="accent4"/>
            </a:solidFill>
            <a:prstDash val="solid"/>
          </a:ln>
        </p:spPr>
      </p:sp>
      <p:sp>
        <p:nvSpPr>
          <p:cNvPr id="29" name="Text 27"/>
          <p:cNvSpPr txBox="1"/>
          <p:nvPr/>
        </p:nvSpPr>
        <p:spPr>
          <a:xfrm>
            <a:off x="10607040" y="1783080"/>
            <a:ext cx="1463040" cy="868680"/>
          </a:xfrm>
          <a:prstGeom prst="rect">
            <a:avLst/>
          </a:prstGeom>
          <a:noFill/>
          <a:ln/>
        </p:spPr>
        <p:txBody>
          <a:bodyPr wrap="square" lIns="0" tIns="0" rIns="0" bIns="0" rtlCol="0" anchor="b"/>
          <a:lstStyle/>
          <a:p>
            <a:pPr algn="ctr" indent="0" marL="0">
              <a:buNone/>
            </a:pPr>
            <a:r>
              <a:rPr lang="en-US" sz="1050" b="1" dirty="0">
                <a:solidFill>
                  <a:schemeClr val="tx1"/>
                </a:solidFill>
              </a:rPr>
              <a:t>Cut-over</a:t>
            </a:r>
            <a:endParaRPr lang="en-US" sz="1050" dirty="0"/>
          </a:p>
        </p:txBody>
      </p:sp>
      <p:sp>
        <p:nvSpPr>
          <p:cNvPr id="30" name="Text 28"/>
          <p:cNvSpPr txBox="1"/>
          <p:nvPr/>
        </p:nvSpPr>
        <p:spPr>
          <a:xfrm>
            <a:off x="10881360" y="3108960"/>
            <a:ext cx="914400" cy="228600"/>
          </a:xfrm>
          <a:prstGeom prst="rect">
            <a:avLst/>
          </a:prstGeom>
          <a:noFill/>
          <a:ln/>
        </p:spPr>
        <p:txBody>
          <a:bodyPr wrap="square" lIns="0" tIns="0" rIns="0" bIns="0" rtlCol="0" anchor="ctr"/>
          <a:lstStyle/>
          <a:p>
            <a:pPr algn="ctr" indent="0" marL="0">
              <a:buNone/>
            </a:pPr>
            <a:r>
              <a:rPr lang="en-US" sz="900" dirty="0">
                <a:solidFill>
                  <a:schemeClr val="accent5"/>
                </a:solidFill>
              </a:rPr>
              <a:t>21 Nov</a:t>
            </a:r>
            <a:endParaRPr lang="en-US" sz="900" dirty="0"/>
          </a:p>
        </p:txBody>
      </p:sp>
      <p:sp>
        <p:nvSpPr>
          <p:cNvPr id="31" name="call 0"/>
          <p:cNvSpPr/>
          <p:nvPr/>
        </p:nvSpPr>
        <p:spPr>
          <a:xfrm>
            <a:off x="548640" y="4343400"/>
            <a:ext cx="3566160" cy="1783080"/>
          </a:xfrm>
          <a:prstGeom prst="roundRect">
            <a:avLst>
              <a:gd name="adj" fmla="val 4103"/>
            </a:avLst>
          </a:prstGeom>
          <a:solidFill>
            <a:schemeClr val="bg2"/>
          </a:solidFill>
          <a:ln w="12700">
            <a:solidFill>
              <a:schemeClr val="bg2"/>
            </a:solidFill>
            <a:prstDash val="solid"/>
          </a:ln>
        </p:spPr>
      </p:sp>
      <p:sp>
        <p:nvSpPr>
          <p:cNvPr id="32" name="Text 30"/>
          <p:cNvSpPr txBox="1"/>
          <p:nvPr/>
        </p:nvSpPr>
        <p:spPr>
          <a:xfrm>
            <a:off x="777240" y="4480560"/>
            <a:ext cx="3108960" cy="365760"/>
          </a:xfrm>
          <a:prstGeom prst="rect">
            <a:avLst/>
          </a:prstGeom>
          <a:noFill/>
          <a:ln/>
        </p:spPr>
        <p:txBody>
          <a:bodyPr wrap="square" lIns="0" tIns="0" rIns="0" bIns="0" rtlCol="0" anchor="ctr"/>
          <a:lstStyle/>
          <a:p>
            <a:pPr indent="0" marL="0">
              <a:buNone/>
            </a:pPr>
            <a:r>
              <a:rPr lang="en-US" sz="1300" b="1" dirty="0">
                <a:solidFill>
                  <a:schemeClr val="tx2"/>
                </a:solidFill>
              </a:rPr>
              <a:t>Dress rehearsal 2 (7 to 8 Nov)</a:t>
            </a:r>
            <a:endParaRPr lang="en-US" sz="1300" dirty="0"/>
          </a:p>
        </p:txBody>
      </p:sp>
      <p:sp>
        <p:nvSpPr>
          <p:cNvPr id="33" name="Text 31"/>
          <p:cNvSpPr txBox="1"/>
          <p:nvPr/>
        </p:nvSpPr>
        <p:spPr>
          <a:xfrm>
            <a:off x="777240" y="4846320"/>
            <a:ext cx="3108960" cy="1188720"/>
          </a:xfrm>
          <a:prstGeom prst="rect">
            <a:avLst/>
          </a:prstGeom>
          <a:noFill/>
          <a:ln/>
        </p:spPr>
        <p:txBody>
          <a:bodyPr wrap="square" lIns="0" tIns="0" rIns="0" bIns="0" rtlCol="0" anchor="t"/>
          <a:lstStyle/>
          <a:p>
            <a:pPr indent="0" marL="0">
              <a:buNone/>
            </a:pPr>
            <a:r>
              <a:rPr lang="en-US" sz="1100" dirty="0">
                <a:solidFill>
                  <a:schemeClr val="tx1"/>
                </a:solidFill>
              </a:rPr>
              <a:t>One day after the SteerCo. Rollback is only partially tested until then. The committee decides on DR1 evidence plus fix test results, or defers one week.</a:t>
            </a:r>
            <a:endParaRPr lang="en-US" sz="1100" dirty="0"/>
          </a:p>
        </p:txBody>
      </p:sp>
      <p:sp>
        <p:nvSpPr>
          <p:cNvPr id="34" name="call 1"/>
          <p:cNvSpPr/>
          <p:nvPr/>
        </p:nvSpPr>
        <p:spPr>
          <a:xfrm>
            <a:off x="4297680" y="4343400"/>
            <a:ext cx="3566160" cy="1783080"/>
          </a:xfrm>
          <a:prstGeom prst="roundRect">
            <a:avLst>
              <a:gd name="adj" fmla="val 4103"/>
            </a:avLst>
          </a:prstGeom>
          <a:solidFill>
            <a:schemeClr val="bg2"/>
          </a:solidFill>
          <a:ln w="12700">
            <a:solidFill>
              <a:schemeClr val="bg2"/>
            </a:solidFill>
            <a:prstDash val="solid"/>
          </a:ln>
        </p:spPr>
      </p:sp>
      <p:sp>
        <p:nvSpPr>
          <p:cNvPr id="35" name="Text 33"/>
          <p:cNvSpPr txBox="1"/>
          <p:nvPr/>
        </p:nvSpPr>
        <p:spPr>
          <a:xfrm>
            <a:off x="4526280" y="4480560"/>
            <a:ext cx="3108960" cy="365760"/>
          </a:xfrm>
          <a:prstGeom prst="rect">
            <a:avLst/>
          </a:prstGeom>
          <a:noFill/>
          <a:ln/>
        </p:spPr>
        <p:txBody>
          <a:bodyPr wrap="square" lIns="0" tIns="0" rIns="0" bIns="0" rtlCol="0" anchor="ctr"/>
          <a:lstStyle/>
          <a:p>
            <a:pPr indent="0" marL="0">
              <a:buNone/>
            </a:pPr>
            <a:r>
              <a:rPr lang="en-US" sz="1300" b="1" dirty="0">
                <a:solidFill>
                  <a:schemeClr val="tx2"/>
                </a:solidFill>
              </a:rPr>
              <a:t>Operational Risk approval (13 Nov)</a:t>
            </a:r>
            <a:endParaRPr lang="en-US" sz="1300" dirty="0"/>
          </a:p>
        </p:txBody>
      </p:sp>
      <p:sp>
        <p:nvSpPr>
          <p:cNvPr id="36" name="Text 34"/>
          <p:cNvSpPr txBox="1"/>
          <p:nvPr/>
        </p:nvSpPr>
        <p:spPr>
          <a:xfrm>
            <a:off x="4526280" y="4846320"/>
            <a:ext cx="3108960" cy="1188720"/>
          </a:xfrm>
          <a:prstGeom prst="rect">
            <a:avLst/>
          </a:prstGeom>
          <a:noFill/>
          <a:ln/>
        </p:spPr>
        <p:txBody>
          <a:bodyPr wrap="square" lIns="0" tIns="0" rIns="0" bIns="0" rtlCol="0" anchor="t"/>
          <a:lstStyle/>
          <a:p>
            <a:pPr indent="0" marL="0">
              <a:buNone/>
            </a:pPr>
            <a:r>
              <a:rPr lang="en-US" sz="1100" dirty="0">
                <a:solidFill>
                  <a:schemeClr val="tx1"/>
                </a:solidFill>
              </a:rPr>
              <a:t>Op Risk will not sign off while DEF-121 (312 records, manual enrichment, no owner yet) is open. A conditional approval needs the Head of Op Risk at the meeting.</a:t>
            </a:r>
            <a:endParaRPr lang="en-US" sz="1100" dirty="0"/>
          </a:p>
        </p:txBody>
      </p:sp>
      <p:sp>
        <p:nvSpPr>
          <p:cNvPr id="37" name="call 2"/>
          <p:cNvSpPr/>
          <p:nvPr/>
        </p:nvSpPr>
        <p:spPr>
          <a:xfrm>
            <a:off x="8046720" y="4343400"/>
            <a:ext cx="3566160" cy="1783080"/>
          </a:xfrm>
          <a:prstGeom prst="roundRect">
            <a:avLst>
              <a:gd name="adj" fmla="val 4103"/>
            </a:avLst>
          </a:prstGeom>
          <a:solidFill>
            <a:schemeClr val="bg2"/>
          </a:solidFill>
          <a:ln w="12700">
            <a:solidFill>
              <a:schemeClr val="bg2"/>
            </a:solidFill>
            <a:prstDash val="solid"/>
          </a:ln>
        </p:spPr>
      </p:sp>
      <p:sp>
        <p:nvSpPr>
          <p:cNvPr id="38" name="Text 36"/>
          <p:cNvSpPr txBox="1"/>
          <p:nvPr/>
        </p:nvSpPr>
        <p:spPr>
          <a:xfrm>
            <a:off x="8275320" y="4480560"/>
            <a:ext cx="3108960" cy="365760"/>
          </a:xfrm>
          <a:prstGeom prst="rect">
            <a:avLst/>
          </a:prstGeom>
          <a:noFill/>
          <a:ln/>
        </p:spPr>
        <p:txBody>
          <a:bodyPr wrap="square" lIns="0" tIns="0" rIns="0" bIns="0" rtlCol="0" anchor="ctr"/>
          <a:lstStyle/>
          <a:p>
            <a:pPr indent="0" marL="0">
              <a:buNone/>
            </a:pPr>
            <a:r>
              <a:rPr lang="en-US" sz="1300" b="1" dirty="0">
                <a:solidFill>
                  <a:schemeClr val="tx2"/>
                </a:solidFill>
              </a:rPr>
              <a:t>Network change freeze (1 Dec)</a:t>
            </a:r>
            <a:endParaRPr lang="en-US" sz="1300" dirty="0"/>
          </a:p>
        </p:txBody>
      </p:sp>
      <p:sp>
        <p:nvSpPr>
          <p:cNvPr id="39" name="Text 37"/>
          <p:cNvSpPr txBox="1"/>
          <p:nvPr/>
        </p:nvSpPr>
        <p:spPr>
          <a:xfrm>
            <a:off x="8275320" y="4846320"/>
            <a:ext cx="3108960" cy="1188720"/>
          </a:xfrm>
          <a:prstGeom prst="rect">
            <a:avLst/>
          </a:prstGeom>
          <a:noFill/>
          <a:ln/>
        </p:spPr>
        <p:txBody>
          <a:bodyPr wrap="square" lIns="0" tIns="0" rIns="0" bIns="0" rtlCol="0" anchor="t"/>
          <a:lstStyle/>
          <a:p>
            <a:pPr indent="0" marL="0">
              <a:buNone/>
            </a:pPr>
            <a:r>
              <a:rPr lang="en-US" sz="1100" dirty="0">
                <a:solidFill>
                  <a:schemeClr val="tx1"/>
                </a:solidFill>
              </a:rPr>
              <a:t>28 to 29 Nov is the only fallback weekend. Any later deferral moves go-live to January.</a:t>
            </a:r>
            <a:endParaRPr lang="en-US" sz="1100" dirty="0"/>
          </a:p>
        </p:txBody>
      </p:sp>
      <p:sp>
        <p:nvSpPr>
          <p:cNvPr id="40" name="Text 38"/>
          <p:cNvSpPr txBox="1"/>
          <p:nvPr/>
        </p:nvSpPr>
        <p:spPr>
          <a:xfrm>
            <a:off x="548640" y="1234440"/>
            <a:ext cx="11064240" cy="365760"/>
          </a:xfrm>
          <a:prstGeom prst="rect">
            <a:avLst/>
          </a:prstGeom>
          <a:noFill/>
          <a:ln/>
        </p:spPr>
        <p:txBody>
          <a:bodyPr wrap="square" lIns="0" tIns="0" rIns="0" bIns="0" rtlCol="0" anchor="ctr"/>
          <a:lstStyle/>
          <a:p>
            <a:pPr indent="0" marL="0">
              <a:buNone/>
            </a:pPr>
            <a:r>
              <a:rPr lang="en-US" sz="1100" i="1" dirty="0">
                <a:solidFill>
                  <a:schemeClr val="accent5"/>
                </a:solidFill>
              </a:rPr>
              <a:t>Source: milestone_plan.xlsx (M02, M20, M22, M26), weekly updates wk41. Red markers: forecast after the decision paper. Orange: slipped but before it. Timeline not to scale.</a:t>
            </a:r>
            <a:endParaRPr lang="en-US" sz="11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C99"/>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lstStyle/>
          <a:p>
            <a:pPr algn="l" indent="0" marL="0">
              <a:buNone/>
            </a:pPr>
            <a:r>
              <a:rPr lang="en-US" sz="2800" b="1" dirty="0">
                <a:solidFill>
                  <a:schemeClr val="tx2"/>
                </a:solidFill>
              </a:rPr>
              <a:t>Three risks drive the recommendation; each is owned and dated</a:t>
            </a:r>
            <a:endParaRPr lang="en-US" sz="2800" dirty="0"/>
          </a:p>
        </p:txBody>
      </p:sp>
      <p:sp>
        <p:nvSpPr>
          <p:cNvPr id="3" name="risk R03"/>
          <p:cNvSpPr/>
          <p:nvPr/>
        </p:nvSpPr>
        <p:spPr>
          <a:xfrm>
            <a:off x="548640" y="1371600"/>
            <a:ext cx="11064240" cy="1417320"/>
          </a:xfrm>
          <a:prstGeom prst="roundRect">
            <a:avLst>
              <a:gd name="adj" fmla="val 5161"/>
            </a:avLst>
          </a:prstGeom>
          <a:solidFill>
            <a:schemeClr val="bg2"/>
          </a:solidFill>
          <a:ln w="12700">
            <a:solidFill>
              <a:schemeClr val="bg2"/>
            </a:solidFill>
            <a:prstDash val="solid"/>
          </a:ln>
        </p:spPr>
      </p:sp>
      <p:sp>
        <p:nvSpPr>
          <p:cNvPr id="4" name="risk dot R03"/>
          <p:cNvSpPr/>
          <p:nvPr/>
        </p:nvSpPr>
        <p:spPr>
          <a:xfrm>
            <a:off x="777240" y="1755648"/>
            <a:ext cx="640080" cy="640080"/>
          </a:xfrm>
          <a:prstGeom prst="ellipse">
            <a:avLst/>
          </a:prstGeom>
          <a:solidFill>
            <a:srgbClr val="C62828"/>
          </a:solidFill>
          <a:ln w="12700">
            <a:solidFill>
              <a:srgbClr val="C62828"/>
            </a:solidFill>
            <a:prstDash val="solid"/>
          </a:ln>
        </p:spPr>
      </p:sp>
      <p:sp>
        <p:nvSpPr>
          <p:cNvPr id="5" name="Text 3"/>
          <p:cNvSpPr txBox="1"/>
          <p:nvPr/>
        </p:nvSpPr>
        <p:spPr>
          <a:xfrm>
            <a:off x="777240" y="1755648"/>
            <a:ext cx="640080" cy="640080"/>
          </a:xfrm>
          <a:prstGeom prst="rect">
            <a:avLst/>
          </a:prstGeom>
          <a:noFill/>
          <a:ln/>
        </p:spPr>
        <p:txBody>
          <a:bodyPr wrap="square" lIns="0" tIns="0" rIns="0" bIns="0" rtlCol="0" anchor="ctr"/>
          <a:lstStyle/>
          <a:p>
            <a:pPr algn="ctr" indent="0" marL="0">
              <a:buNone/>
            </a:pPr>
            <a:r>
              <a:rPr lang="en-US" sz="1200" b="1" dirty="0">
                <a:solidFill>
                  <a:schemeClr val="bg1"/>
                </a:solidFill>
              </a:rPr>
              <a:t>R03</a:t>
            </a:r>
            <a:endParaRPr lang="en-US" sz="1200" dirty="0"/>
          </a:p>
        </p:txBody>
      </p:sp>
      <p:sp>
        <p:nvSpPr>
          <p:cNvPr id="6" name="Text 4"/>
          <p:cNvSpPr txBox="1"/>
          <p:nvPr/>
        </p:nvSpPr>
        <p:spPr>
          <a:xfrm>
            <a:off x="1645920" y="1508760"/>
            <a:ext cx="4754880" cy="365760"/>
          </a:xfrm>
          <a:prstGeom prst="rect">
            <a:avLst/>
          </a:prstGeom>
          <a:noFill/>
          <a:ln/>
        </p:spPr>
        <p:txBody>
          <a:bodyPr wrap="square" lIns="0" tIns="0" rIns="0" bIns="0" rtlCol="0" anchor="ctr"/>
          <a:lstStyle/>
          <a:p>
            <a:pPr indent="0" marL="0">
              <a:buNone/>
            </a:pPr>
            <a:r>
              <a:rPr lang="en-US" sz="1500" b="1" dirty="0">
                <a:solidFill>
                  <a:schemeClr val="tx2"/>
                </a:solidFill>
              </a:rPr>
              <a:t>Hypercare staffing below model</a:t>
            </a:r>
            <a:endParaRPr lang="en-US" sz="1500" dirty="0"/>
          </a:p>
        </p:txBody>
      </p:sp>
      <p:sp>
        <p:nvSpPr>
          <p:cNvPr id="7" name="Text 5"/>
          <p:cNvSpPr txBox="1"/>
          <p:nvPr/>
        </p:nvSpPr>
        <p:spPr>
          <a:xfrm>
            <a:off x="1645920" y="1901952"/>
            <a:ext cx="6035040" cy="822960"/>
          </a:xfrm>
          <a:prstGeom prst="rect">
            <a:avLst/>
          </a:prstGeom>
          <a:noFill/>
          <a:ln/>
        </p:spPr>
        <p:txBody>
          <a:bodyPr wrap="square" lIns="0" tIns="0" rIns="0" bIns="0" rtlCol="0" anchor="t"/>
          <a:lstStyle/>
          <a:p>
            <a:pPr indent="0" marL="0">
              <a:buNone/>
            </a:pPr>
            <a:r>
              <a:rPr lang="en-US" sz="1100" dirty="0">
                <a:solidFill>
                  <a:schemeClr val="tx1"/>
                </a:solidFill>
              </a:rPr>
              <a:t>50 of 58 FTE confirmed. Service centre teams carry year-end volumes in the same window. Service partner needs four weeks' notice.</a:t>
            </a:r>
            <a:endParaRPr lang="en-US" sz="1100" dirty="0"/>
          </a:p>
        </p:txBody>
      </p:sp>
      <p:sp>
        <p:nvSpPr>
          <p:cNvPr id="8" name="Text 6"/>
          <p:cNvSpPr txBox="1"/>
          <p:nvPr/>
        </p:nvSpPr>
        <p:spPr>
          <a:xfrm>
            <a:off x="7955280" y="1554480"/>
            <a:ext cx="3474720" cy="1097280"/>
          </a:xfrm>
          <a:prstGeom prst="rect">
            <a:avLst/>
          </a:prstGeom>
          <a:noFill/>
          <a:ln/>
        </p:spPr>
        <p:txBody>
          <a:bodyPr wrap="square" lIns="0" tIns="0" rIns="0" bIns="0" rtlCol="0" anchor="t"/>
          <a:lstStyle/>
          <a:p>
            <a:pPr indent="0" marL="0">
              <a:spcAft>
                <a:spcPts val="400"/>
              </a:spcAft>
              <a:buNone/>
            </a:pPr>
            <a:r>
              <a:rPr lang="en-US" sz="1100" dirty="0">
                <a:solidFill>
                  <a:schemeClr val="accent5"/>
                </a:solidFill>
              </a:rPr>
              <a:t>Severity / likelihood  </a:t>
            </a:r>
            <a:pPr indent="0" marL="0">
              <a:spcAft>
                <a:spcPts val="400"/>
              </a:spcAft>
              <a:buNone/>
            </a:pPr>
            <a:r>
              <a:rPr lang="en-US" sz="1100" b="1" dirty="0">
                <a:solidFill>
                  <a:schemeClr val="tx1"/>
                </a:solidFill>
              </a:rPr>
              <a:t>High / High</a:t>
            </a:r>
            <a:endParaRPr lang="en-US" sz="1100" dirty="0"/>
          </a:p>
          <a:p>
            <a:pPr indent="0" marL="0">
              <a:spcAft>
                <a:spcPts val="400"/>
              </a:spcAft>
              <a:buNone/>
            </a:pPr>
            <a:r>
              <a:rPr lang="en-US" sz="1100" dirty="0">
                <a:solidFill>
                  <a:schemeClr val="accent5"/>
                </a:solidFill>
              </a:rPr>
              <a:t>Owner  </a:t>
            </a:r>
            <a:pPr indent="0" marL="0">
              <a:spcAft>
                <a:spcPts val="400"/>
              </a:spcAft>
              <a:buNone/>
            </a:pPr>
            <a:r>
              <a:rPr lang="en-US" sz="1100" b="1" dirty="0">
                <a:solidFill>
                  <a:schemeClr val="tx1"/>
                </a:solidFill>
              </a:rPr>
              <a:t>Operations Readiness Lead</a:t>
            </a:r>
            <a:endParaRPr lang="en-US" sz="1100" dirty="0"/>
          </a:p>
          <a:p>
            <a:pPr indent="0" marL="0">
              <a:spcAft>
                <a:spcPts val="400"/>
              </a:spcAft>
              <a:buNone/>
            </a:pPr>
            <a:r>
              <a:rPr lang="en-US" sz="1100" dirty="0">
                <a:solidFill>
                  <a:schemeClr val="accent5"/>
                </a:solidFill>
              </a:rPr>
              <a:t>Mitigation due  </a:t>
            </a:r>
            <a:pPr indent="0" marL="0">
              <a:spcAft>
                <a:spcPts val="400"/>
              </a:spcAft>
              <a:buNone/>
            </a:pPr>
            <a:r>
              <a:rPr lang="en-US" sz="1100" b="1" dirty="0">
                <a:solidFill>
                  <a:schemeClr val="tx1"/>
                </a:solidFill>
              </a:rPr>
              <a:t>23 Oct</a:t>
            </a:r>
            <a:endParaRPr lang="en-US" sz="1100" dirty="0"/>
          </a:p>
        </p:txBody>
      </p:sp>
      <p:sp>
        <p:nvSpPr>
          <p:cNvPr id="9" name="risk R02"/>
          <p:cNvSpPr/>
          <p:nvPr/>
        </p:nvSpPr>
        <p:spPr>
          <a:xfrm>
            <a:off x="548640" y="2971800"/>
            <a:ext cx="11064240" cy="1417320"/>
          </a:xfrm>
          <a:prstGeom prst="roundRect">
            <a:avLst>
              <a:gd name="adj" fmla="val 5161"/>
            </a:avLst>
          </a:prstGeom>
          <a:solidFill>
            <a:schemeClr val="bg2"/>
          </a:solidFill>
          <a:ln w="12700">
            <a:solidFill>
              <a:schemeClr val="bg2"/>
            </a:solidFill>
            <a:prstDash val="solid"/>
          </a:ln>
        </p:spPr>
      </p:sp>
      <p:sp>
        <p:nvSpPr>
          <p:cNvPr id="10" name="risk dot R02"/>
          <p:cNvSpPr/>
          <p:nvPr/>
        </p:nvSpPr>
        <p:spPr>
          <a:xfrm>
            <a:off x="777240" y="3355848"/>
            <a:ext cx="640080" cy="640080"/>
          </a:xfrm>
          <a:prstGeom prst="ellipse">
            <a:avLst/>
          </a:prstGeom>
          <a:solidFill>
            <a:srgbClr val="C62828"/>
          </a:solidFill>
          <a:ln w="12700">
            <a:solidFill>
              <a:srgbClr val="C62828"/>
            </a:solidFill>
            <a:prstDash val="solid"/>
          </a:ln>
        </p:spPr>
      </p:sp>
      <p:sp>
        <p:nvSpPr>
          <p:cNvPr id="11" name="Text 9"/>
          <p:cNvSpPr txBox="1"/>
          <p:nvPr/>
        </p:nvSpPr>
        <p:spPr>
          <a:xfrm>
            <a:off x="777240" y="3355848"/>
            <a:ext cx="640080" cy="640080"/>
          </a:xfrm>
          <a:prstGeom prst="rect">
            <a:avLst/>
          </a:prstGeom>
          <a:noFill/>
          <a:ln/>
        </p:spPr>
        <p:txBody>
          <a:bodyPr wrap="square" lIns="0" tIns="0" rIns="0" bIns="0" rtlCol="0" anchor="ctr"/>
          <a:lstStyle/>
          <a:p>
            <a:pPr algn="ctr" indent="0" marL="0">
              <a:buNone/>
            </a:pPr>
            <a:r>
              <a:rPr lang="en-US" sz="1200" b="1" dirty="0">
                <a:solidFill>
                  <a:schemeClr val="bg1"/>
                </a:solidFill>
              </a:rPr>
              <a:t>R02</a:t>
            </a:r>
            <a:endParaRPr lang="en-US" sz="1200" dirty="0"/>
          </a:p>
        </p:txBody>
      </p:sp>
      <p:sp>
        <p:nvSpPr>
          <p:cNvPr id="12" name="Text 10"/>
          <p:cNvSpPr txBox="1"/>
          <p:nvPr/>
        </p:nvSpPr>
        <p:spPr>
          <a:xfrm>
            <a:off x="1645920" y="3108960"/>
            <a:ext cx="4754880" cy="365760"/>
          </a:xfrm>
          <a:prstGeom prst="rect">
            <a:avLst/>
          </a:prstGeom>
          <a:noFill/>
          <a:ln/>
        </p:spPr>
        <p:txBody>
          <a:bodyPr wrap="square" lIns="0" tIns="0" rIns="0" bIns="0" rtlCol="0" anchor="ctr"/>
          <a:lstStyle/>
          <a:p>
            <a:pPr indent="0" marL="0">
              <a:buNone/>
            </a:pPr>
            <a:r>
              <a:rPr lang="en-US" sz="1500" b="1" dirty="0">
                <a:solidFill>
                  <a:schemeClr val="tx2"/>
                </a:solidFill>
              </a:rPr>
              <a:t>Op Risk approval after the SteerCo</a:t>
            </a:r>
            <a:endParaRPr lang="en-US" sz="1500" dirty="0"/>
          </a:p>
        </p:txBody>
      </p:sp>
      <p:sp>
        <p:nvSpPr>
          <p:cNvPr id="13" name="Text 11"/>
          <p:cNvSpPr txBox="1"/>
          <p:nvPr/>
        </p:nvSpPr>
        <p:spPr>
          <a:xfrm>
            <a:off x="1645920" y="3502152"/>
            <a:ext cx="6035040" cy="822960"/>
          </a:xfrm>
          <a:prstGeom prst="rect">
            <a:avLst/>
          </a:prstGeom>
          <a:noFill/>
          <a:ln/>
        </p:spPr>
        <p:txBody>
          <a:bodyPr wrap="square" lIns="0" tIns="0" rIns="0" bIns="0" rtlCol="0" anchor="t"/>
          <a:lstStyle/>
          <a:p>
            <a:pPr indent="0" marL="0">
              <a:buNone/>
            </a:pPr>
            <a:r>
              <a:rPr lang="en-US" sz="1100" dirty="0">
                <a:solidFill>
                  <a:schemeClr val="tx1"/>
                </a:solidFill>
              </a:rPr>
              <a:t>Close DEF-114 by 16 Oct (fix in test). Assign an owner to DEF-121 enrichment this week. Ask for conditional approval in person.</a:t>
            </a:r>
            <a:endParaRPr lang="en-US" sz="1100" dirty="0"/>
          </a:p>
        </p:txBody>
      </p:sp>
      <p:sp>
        <p:nvSpPr>
          <p:cNvPr id="14" name="Text 12"/>
          <p:cNvSpPr txBox="1"/>
          <p:nvPr/>
        </p:nvSpPr>
        <p:spPr>
          <a:xfrm>
            <a:off x="7955280" y="3154680"/>
            <a:ext cx="3474720" cy="1097280"/>
          </a:xfrm>
          <a:prstGeom prst="rect">
            <a:avLst/>
          </a:prstGeom>
          <a:noFill/>
          <a:ln/>
        </p:spPr>
        <p:txBody>
          <a:bodyPr wrap="square" lIns="0" tIns="0" rIns="0" bIns="0" rtlCol="0" anchor="t"/>
          <a:lstStyle/>
          <a:p>
            <a:pPr indent="0" marL="0">
              <a:spcAft>
                <a:spcPts val="400"/>
              </a:spcAft>
              <a:buNone/>
            </a:pPr>
            <a:r>
              <a:rPr lang="en-US" sz="1100" dirty="0">
                <a:solidFill>
                  <a:schemeClr val="accent5"/>
                </a:solidFill>
              </a:rPr>
              <a:t>Severity / likelihood  </a:t>
            </a:r>
            <a:pPr indent="0" marL="0">
              <a:spcAft>
                <a:spcPts val="400"/>
              </a:spcAft>
              <a:buNone/>
            </a:pPr>
            <a:r>
              <a:rPr lang="en-US" sz="1100" b="1" dirty="0">
                <a:solidFill>
                  <a:schemeClr val="tx1"/>
                </a:solidFill>
              </a:rPr>
              <a:t>High / High</a:t>
            </a:r>
            <a:endParaRPr lang="en-US" sz="1100" dirty="0"/>
          </a:p>
          <a:p>
            <a:pPr indent="0" marL="0">
              <a:spcAft>
                <a:spcPts val="400"/>
              </a:spcAft>
              <a:buNone/>
            </a:pPr>
            <a:r>
              <a:rPr lang="en-US" sz="1100" dirty="0">
                <a:solidFill>
                  <a:schemeClr val="accent5"/>
                </a:solidFill>
              </a:rPr>
              <a:t>Owner  </a:t>
            </a:r>
            <a:pPr indent="0" marL="0">
              <a:spcAft>
                <a:spcPts val="400"/>
              </a:spcAft>
              <a:buNone/>
            </a:pPr>
            <a:r>
              <a:rPr lang="en-US" sz="1100" b="1" dirty="0">
                <a:solidFill>
                  <a:schemeClr val="tx1"/>
                </a:solidFill>
              </a:rPr>
              <a:t>Risk and Control Lead</a:t>
            </a:r>
            <a:endParaRPr lang="en-US" sz="1100" dirty="0"/>
          </a:p>
          <a:p>
            <a:pPr indent="0" marL="0">
              <a:spcAft>
                <a:spcPts val="400"/>
              </a:spcAft>
              <a:buNone/>
            </a:pPr>
            <a:r>
              <a:rPr lang="en-US" sz="1100" dirty="0">
                <a:solidFill>
                  <a:schemeClr val="accent5"/>
                </a:solidFill>
              </a:rPr>
              <a:t>Mitigation due  </a:t>
            </a:r>
            <a:pPr indent="0" marL="0">
              <a:spcAft>
                <a:spcPts val="400"/>
              </a:spcAft>
              <a:buNone/>
            </a:pPr>
            <a:r>
              <a:rPr lang="en-US" sz="1100" b="1" dirty="0">
                <a:solidFill>
                  <a:schemeClr val="tx1"/>
                </a:solidFill>
              </a:rPr>
              <a:t>6 Nov</a:t>
            </a:r>
            <a:endParaRPr lang="en-US" sz="1100" dirty="0"/>
          </a:p>
        </p:txBody>
      </p:sp>
      <p:sp>
        <p:nvSpPr>
          <p:cNvPr id="15" name="risk R01"/>
          <p:cNvSpPr/>
          <p:nvPr/>
        </p:nvSpPr>
        <p:spPr>
          <a:xfrm>
            <a:off x="548640" y="4572000"/>
            <a:ext cx="11064240" cy="1417320"/>
          </a:xfrm>
          <a:prstGeom prst="roundRect">
            <a:avLst>
              <a:gd name="adj" fmla="val 5161"/>
            </a:avLst>
          </a:prstGeom>
          <a:solidFill>
            <a:schemeClr val="bg2"/>
          </a:solidFill>
          <a:ln w="12700">
            <a:solidFill>
              <a:schemeClr val="bg2"/>
            </a:solidFill>
            <a:prstDash val="solid"/>
          </a:ln>
        </p:spPr>
      </p:sp>
      <p:sp>
        <p:nvSpPr>
          <p:cNvPr id="16" name="risk dot R01"/>
          <p:cNvSpPr/>
          <p:nvPr/>
        </p:nvSpPr>
        <p:spPr>
          <a:xfrm>
            <a:off x="777240" y="4956048"/>
            <a:ext cx="640080" cy="640080"/>
          </a:xfrm>
          <a:prstGeom prst="ellipse">
            <a:avLst/>
          </a:prstGeom>
          <a:solidFill>
            <a:srgbClr val="EF6C00"/>
          </a:solidFill>
          <a:ln w="12700">
            <a:solidFill>
              <a:srgbClr val="EF6C00"/>
            </a:solidFill>
            <a:prstDash val="solid"/>
          </a:ln>
        </p:spPr>
      </p:sp>
      <p:sp>
        <p:nvSpPr>
          <p:cNvPr id="17" name="Text 15"/>
          <p:cNvSpPr txBox="1"/>
          <p:nvPr/>
        </p:nvSpPr>
        <p:spPr>
          <a:xfrm>
            <a:off x="777240" y="4956048"/>
            <a:ext cx="640080" cy="640080"/>
          </a:xfrm>
          <a:prstGeom prst="rect">
            <a:avLst/>
          </a:prstGeom>
          <a:noFill/>
          <a:ln/>
        </p:spPr>
        <p:txBody>
          <a:bodyPr wrap="square" lIns="0" tIns="0" rIns="0" bIns="0" rtlCol="0" anchor="ctr"/>
          <a:lstStyle/>
          <a:p>
            <a:pPr algn="ctr" indent="0" marL="0">
              <a:buNone/>
            </a:pPr>
            <a:r>
              <a:rPr lang="en-US" sz="1200" b="1" dirty="0">
                <a:solidFill>
                  <a:schemeClr val="bg1"/>
                </a:solidFill>
              </a:rPr>
              <a:t>R01</a:t>
            </a:r>
            <a:endParaRPr lang="en-US" sz="1200" dirty="0"/>
          </a:p>
        </p:txBody>
      </p:sp>
      <p:sp>
        <p:nvSpPr>
          <p:cNvPr id="18" name="Text 16"/>
          <p:cNvSpPr txBox="1"/>
          <p:nvPr/>
        </p:nvSpPr>
        <p:spPr>
          <a:xfrm>
            <a:off x="1645920" y="4709160"/>
            <a:ext cx="4754880" cy="365760"/>
          </a:xfrm>
          <a:prstGeom prst="rect">
            <a:avLst/>
          </a:prstGeom>
          <a:noFill/>
          <a:ln/>
        </p:spPr>
        <p:txBody>
          <a:bodyPr wrap="square" lIns="0" tIns="0" rIns="0" bIns="0" rtlCol="0" anchor="ctr"/>
          <a:lstStyle/>
          <a:p>
            <a:pPr indent="0" marL="0">
              <a:buNone/>
            </a:pPr>
            <a:r>
              <a:rPr lang="en-US" sz="1500" b="1" dirty="0">
                <a:solidFill>
                  <a:schemeClr val="tx2"/>
                </a:solidFill>
              </a:rPr>
              <a:t>Batch fix late for DR2</a:t>
            </a:r>
            <a:endParaRPr lang="en-US" sz="1500" dirty="0"/>
          </a:p>
        </p:txBody>
      </p:sp>
      <p:sp>
        <p:nvSpPr>
          <p:cNvPr id="19" name="Text 17"/>
          <p:cNvSpPr txBox="1"/>
          <p:nvPr/>
        </p:nvSpPr>
        <p:spPr>
          <a:xfrm>
            <a:off x="1645920" y="5102352"/>
            <a:ext cx="6035040" cy="822960"/>
          </a:xfrm>
          <a:prstGeom prst="rect">
            <a:avLst/>
          </a:prstGeom>
          <a:noFill/>
          <a:ln/>
        </p:spPr>
        <p:txBody>
          <a:bodyPr wrap="square" lIns="0" tIns="0" rIns="0" bIns="0" rtlCol="0" anchor="t"/>
          <a:lstStyle/>
          <a:p>
            <a:pPr indent="0" marL="0">
              <a:buNone/>
            </a:pPr>
            <a:r>
              <a:rPr lang="en-US" sz="1100" dirty="0">
                <a:solidFill>
                  <a:schemeClr val="tx1"/>
                </a:solidFill>
              </a:rPr>
              <a:t>Fix passed unit tests; regression from 12 Oct; deployment 23 Oct confirmed in the change calendar. Fallback: DR2 on current build, weaker evidence.</a:t>
            </a:r>
            <a:endParaRPr lang="en-US" sz="1100" dirty="0"/>
          </a:p>
        </p:txBody>
      </p:sp>
      <p:sp>
        <p:nvSpPr>
          <p:cNvPr id="20" name="Text 18"/>
          <p:cNvSpPr txBox="1"/>
          <p:nvPr/>
        </p:nvSpPr>
        <p:spPr>
          <a:xfrm>
            <a:off x="7955280" y="4754880"/>
            <a:ext cx="3474720" cy="1097280"/>
          </a:xfrm>
          <a:prstGeom prst="rect">
            <a:avLst/>
          </a:prstGeom>
          <a:noFill/>
          <a:ln/>
        </p:spPr>
        <p:txBody>
          <a:bodyPr wrap="square" lIns="0" tIns="0" rIns="0" bIns="0" rtlCol="0" anchor="t"/>
          <a:lstStyle/>
          <a:p>
            <a:pPr indent="0" marL="0">
              <a:spcAft>
                <a:spcPts val="400"/>
              </a:spcAft>
              <a:buNone/>
            </a:pPr>
            <a:r>
              <a:rPr lang="en-US" sz="1100" dirty="0">
                <a:solidFill>
                  <a:schemeClr val="accent5"/>
                </a:solidFill>
              </a:rPr>
              <a:t>Severity / likelihood  </a:t>
            </a:r>
            <a:pPr indent="0" marL="0">
              <a:spcAft>
                <a:spcPts val="400"/>
              </a:spcAft>
              <a:buNone/>
            </a:pPr>
            <a:r>
              <a:rPr lang="en-US" sz="1100" b="1" dirty="0">
                <a:solidFill>
                  <a:schemeClr val="tx1"/>
                </a:solidFill>
              </a:rPr>
              <a:t>High / Medium</a:t>
            </a:r>
            <a:endParaRPr lang="en-US" sz="1100" dirty="0"/>
          </a:p>
          <a:p>
            <a:pPr indent="0" marL="0">
              <a:spcAft>
                <a:spcPts val="400"/>
              </a:spcAft>
              <a:buNone/>
            </a:pPr>
            <a:r>
              <a:rPr lang="en-US" sz="1100" dirty="0">
                <a:solidFill>
                  <a:schemeClr val="accent5"/>
                </a:solidFill>
              </a:rPr>
              <a:t>Owner  </a:t>
            </a:r>
            <a:pPr indent="0" marL="0">
              <a:spcAft>
                <a:spcPts val="400"/>
              </a:spcAft>
              <a:buNone/>
            </a:pPr>
            <a:r>
              <a:rPr lang="en-US" sz="1100" b="1" dirty="0">
                <a:solidFill>
                  <a:schemeClr val="tx1"/>
                </a:solidFill>
              </a:rPr>
              <a:t>Platform Engineering Lead</a:t>
            </a:r>
            <a:endParaRPr lang="en-US" sz="1100" dirty="0"/>
          </a:p>
          <a:p>
            <a:pPr indent="0" marL="0">
              <a:spcAft>
                <a:spcPts val="400"/>
              </a:spcAft>
              <a:buNone/>
            </a:pPr>
            <a:r>
              <a:rPr lang="en-US" sz="1100" dirty="0">
                <a:solidFill>
                  <a:schemeClr val="accent5"/>
                </a:solidFill>
              </a:rPr>
              <a:t>Mitigation due  </a:t>
            </a:r>
            <a:pPr indent="0" marL="0">
              <a:spcAft>
                <a:spcPts val="400"/>
              </a:spcAft>
              <a:buNone/>
            </a:pPr>
            <a:r>
              <a:rPr lang="en-US" sz="1100" b="1" dirty="0">
                <a:solidFill>
                  <a:schemeClr val="tx1"/>
                </a:solidFill>
              </a:rPr>
              <a:t>23 Oct</a:t>
            </a:r>
            <a:endParaRPr lang="en-US" sz="1100" dirty="0"/>
          </a:p>
        </p:txBody>
      </p:sp>
      <p:sp>
        <p:nvSpPr>
          <p:cNvPr id="21" name="Text 19"/>
          <p:cNvSpPr txBox="1"/>
          <p:nvPr/>
        </p:nvSpPr>
        <p:spPr>
          <a:xfrm>
            <a:off x="548640" y="6172200"/>
            <a:ext cx="11064240" cy="274320"/>
          </a:xfrm>
          <a:prstGeom prst="rect">
            <a:avLst/>
          </a:prstGeom>
          <a:noFill/>
          <a:ln/>
        </p:spPr>
        <p:txBody>
          <a:bodyPr wrap="square" lIns="0" tIns="0" rIns="0" bIns="0" rtlCol="0" anchor="ctr"/>
          <a:lstStyle/>
          <a:p>
            <a:pPr indent="0" marL="0">
              <a:buNone/>
            </a:pPr>
            <a:r>
              <a:rPr lang="en-US" sz="1100" i="1" dirty="0">
                <a:solidFill>
                  <a:schemeClr val="accent5"/>
                </a:solidFill>
              </a:rPr>
              <a:t>Source: raid_log.csv, ranked by severity and likelihood. Full register of 24 items in the cockpit, Schedule tab.</a:t>
            </a:r>
            <a:endParaRPr lang="en-US" sz="11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C99"/>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lstStyle/>
          <a:p>
            <a:pPr algn="l" indent="0" marL="0">
              <a:buNone/>
            </a:pPr>
            <a:r>
              <a:rPr lang="en-US" sz="2800" b="1" dirty="0">
                <a:solidFill>
                  <a:schemeClr val="tx2"/>
                </a:solidFill>
              </a:rPr>
              <a:t>Decision requested: close the hypercare staffing gap by 23 October</a:t>
            </a:r>
            <a:endParaRPr lang="en-US" sz="2800" dirty="0"/>
          </a:p>
        </p:txBody>
      </p:sp>
      <p:sp>
        <p:nvSpPr>
          <p:cNvPr id="3" name="opt 0"/>
          <p:cNvSpPr/>
          <p:nvPr/>
        </p:nvSpPr>
        <p:spPr>
          <a:xfrm>
            <a:off x="548640" y="1371600"/>
            <a:ext cx="3566160" cy="2926080"/>
          </a:xfrm>
          <a:prstGeom prst="roundRect">
            <a:avLst>
              <a:gd name="adj" fmla="val 2500"/>
            </a:avLst>
          </a:prstGeom>
          <a:solidFill>
            <a:schemeClr val="tx2"/>
          </a:solidFill>
          <a:ln w="12700">
            <a:solidFill>
              <a:schemeClr val="tx2"/>
            </a:solidFill>
            <a:prstDash val="solid"/>
          </a:ln>
        </p:spPr>
      </p:sp>
      <p:sp>
        <p:nvSpPr>
          <p:cNvPr id="4" name="Text 2"/>
          <p:cNvSpPr txBox="1"/>
          <p:nvPr/>
        </p:nvSpPr>
        <p:spPr>
          <a:xfrm>
            <a:off x="777240" y="1508760"/>
            <a:ext cx="3108960" cy="365760"/>
          </a:xfrm>
          <a:prstGeom prst="rect">
            <a:avLst/>
          </a:prstGeom>
          <a:noFill/>
          <a:ln/>
        </p:spPr>
        <p:txBody>
          <a:bodyPr wrap="square" lIns="0" tIns="0" rIns="0" bIns="0" rtlCol="0" anchor="ctr"/>
          <a:lstStyle/>
          <a:p>
            <a:pPr indent="0" marL="0">
              <a:buNone/>
            </a:pPr>
            <a:r>
              <a:rPr lang="en-US" sz="1200" b="1" dirty="0">
                <a:solidFill>
                  <a:schemeClr val="accent6"/>
                </a:solidFill>
              </a:rPr>
              <a:t>Option A  |  Recommended</a:t>
            </a:r>
            <a:endParaRPr lang="en-US" sz="1200" dirty="0"/>
          </a:p>
        </p:txBody>
      </p:sp>
      <p:sp>
        <p:nvSpPr>
          <p:cNvPr id="5" name="Text 3"/>
          <p:cNvSpPr txBox="1"/>
          <p:nvPr/>
        </p:nvSpPr>
        <p:spPr>
          <a:xfrm>
            <a:off x="777240" y="1874520"/>
            <a:ext cx="3108960" cy="822960"/>
          </a:xfrm>
          <a:prstGeom prst="rect">
            <a:avLst/>
          </a:prstGeom>
          <a:noFill/>
          <a:ln/>
        </p:spPr>
        <p:txBody>
          <a:bodyPr wrap="square" lIns="0" tIns="0" rIns="0" bIns="0" rtlCol="0" anchor="t"/>
          <a:lstStyle/>
          <a:p>
            <a:pPr indent="0" marL="0">
              <a:buNone/>
            </a:pPr>
            <a:r>
              <a:rPr lang="en-US" sz="1400" b="1" dirty="0">
                <a:solidFill>
                  <a:schemeClr val="bg1"/>
                </a:solidFill>
              </a:rPr>
              <a:t>Contract 8 temporary FTE from the service partner for three weeks</a:t>
            </a:r>
            <a:endParaRPr lang="en-US" sz="1400" dirty="0"/>
          </a:p>
        </p:txBody>
      </p:sp>
      <p:sp>
        <p:nvSpPr>
          <p:cNvPr id="6" name="Text 4"/>
          <p:cNvSpPr txBox="1"/>
          <p:nvPr/>
        </p:nvSpPr>
        <p:spPr>
          <a:xfrm>
            <a:off x="777240" y="2743200"/>
            <a:ext cx="3108960" cy="1463040"/>
          </a:xfrm>
          <a:prstGeom prst="rect">
            <a:avLst/>
          </a:prstGeom>
          <a:noFill/>
          <a:ln/>
        </p:spPr>
        <p:txBody>
          <a:bodyPr wrap="square" lIns="0" tIns="0" rIns="0" bIns="0" rtlCol="0" anchor="t"/>
          <a:lstStyle/>
          <a:p>
            <a:pPr indent="0" marL="0">
              <a:buNone/>
            </a:pPr>
            <a:r>
              <a:rPr lang="en-US" sz="1150" dirty="0">
                <a:solidFill>
                  <a:schemeClr val="bg2"/>
                </a:solidFill>
              </a:rPr>
              <a:t>Cost about CHF 180,000. Lifts staffing to 100% of model. Needs sign-off by 23 Oct (four weeks' notice). Keeps full day-one scope.</a:t>
            </a:r>
            <a:endParaRPr lang="en-US" sz="1150" dirty="0"/>
          </a:p>
        </p:txBody>
      </p:sp>
      <p:sp>
        <p:nvSpPr>
          <p:cNvPr id="7" name="opt 1"/>
          <p:cNvSpPr/>
          <p:nvPr/>
        </p:nvSpPr>
        <p:spPr>
          <a:xfrm>
            <a:off x="4297680" y="1371600"/>
            <a:ext cx="3566160" cy="2926080"/>
          </a:xfrm>
          <a:prstGeom prst="roundRect">
            <a:avLst>
              <a:gd name="adj" fmla="val 2500"/>
            </a:avLst>
          </a:prstGeom>
          <a:solidFill>
            <a:schemeClr val="bg2"/>
          </a:solidFill>
          <a:ln w="12700">
            <a:solidFill>
              <a:schemeClr val="bg2"/>
            </a:solidFill>
            <a:prstDash val="solid"/>
          </a:ln>
        </p:spPr>
      </p:sp>
      <p:sp>
        <p:nvSpPr>
          <p:cNvPr id="8" name="Text 6"/>
          <p:cNvSpPr txBox="1"/>
          <p:nvPr/>
        </p:nvSpPr>
        <p:spPr>
          <a:xfrm>
            <a:off x="4526280" y="1508760"/>
            <a:ext cx="3108960" cy="365760"/>
          </a:xfrm>
          <a:prstGeom prst="rect">
            <a:avLst/>
          </a:prstGeom>
          <a:noFill/>
          <a:ln/>
        </p:spPr>
        <p:txBody>
          <a:bodyPr wrap="square" lIns="0" tIns="0" rIns="0" bIns="0" rtlCol="0" anchor="ctr"/>
          <a:lstStyle/>
          <a:p>
            <a:pPr indent="0" marL="0">
              <a:buNone/>
            </a:pPr>
            <a:r>
              <a:rPr lang="en-US" sz="1200" b="1" dirty="0">
                <a:solidFill>
                  <a:schemeClr val="accent5"/>
                </a:solidFill>
              </a:rPr>
              <a:t>Option B</a:t>
            </a:r>
            <a:endParaRPr lang="en-US" sz="1200" dirty="0"/>
          </a:p>
        </p:txBody>
      </p:sp>
      <p:sp>
        <p:nvSpPr>
          <p:cNvPr id="9" name="Text 7"/>
          <p:cNvSpPr txBox="1"/>
          <p:nvPr/>
        </p:nvSpPr>
        <p:spPr>
          <a:xfrm>
            <a:off x="4526280" y="1874520"/>
            <a:ext cx="3108960" cy="822960"/>
          </a:xfrm>
          <a:prstGeom prst="rect">
            <a:avLst/>
          </a:prstGeom>
          <a:noFill/>
          <a:ln/>
        </p:spPr>
        <p:txBody>
          <a:bodyPr wrap="square" lIns="0" tIns="0" rIns="0" bIns="0" rtlCol="0" anchor="t"/>
          <a:lstStyle/>
          <a:p>
            <a:pPr indent="0" marL="0">
              <a:buNone/>
            </a:pPr>
            <a:r>
              <a:rPr lang="en-US" sz="1400" b="1" dirty="0">
                <a:solidFill>
                  <a:schemeClr val="tx2"/>
                </a:solidFill>
              </a:rPr>
              <a:t>Defer the corporate actions module to a December release</a:t>
            </a:r>
            <a:endParaRPr lang="en-US" sz="1400" dirty="0"/>
          </a:p>
        </p:txBody>
      </p:sp>
      <p:sp>
        <p:nvSpPr>
          <p:cNvPr id="10" name="Text 8"/>
          <p:cNvSpPr txBox="1"/>
          <p:nvPr/>
        </p:nvSpPr>
        <p:spPr>
          <a:xfrm>
            <a:off x="4526280" y="2743200"/>
            <a:ext cx="3108960" cy="1463040"/>
          </a:xfrm>
          <a:prstGeom prst="rect">
            <a:avLst/>
          </a:prstGeom>
          <a:noFill/>
          <a:ln/>
        </p:spPr>
        <p:txBody>
          <a:bodyPr wrap="square" lIns="0" tIns="0" rIns="0" bIns="0" rtlCol="0" anchor="t"/>
          <a:lstStyle/>
          <a:p>
            <a:pPr indent="0" marL="0">
              <a:buNone/>
            </a:pPr>
            <a:r>
              <a:rPr lang="en-US" sz="1150" dirty="0">
                <a:solidFill>
                  <a:schemeClr val="tx1"/>
                </a:solidFill>
              </a:rPr>
              <a:t>No cost. Reduces day-one volume so 50 FTE meets the reduced model. Adds a second cut-over inside the change freeze window, which needs its own approval.</a:t>
            </a:r>
            <a:endParaRPr lang="en-US" sz="1150" dirty="0"/>
          </a:p>
        </p:txBody>
      </p:sp>
      <p:sp>
        <p:nvSpPr>
          <p:cNvPr id="11" name="opt 2"/>
          <p:cNvSpPr/>
          <p:nvPr/>
        </p:nvSpPr>
        <p:spPr>
          <a:xfrm>
            <a:off x="8046720" y="1371600"/>
            <a:ext cx="3566160" cy="2926080"/>
          </a:xfrm>
          <a:prstGeom prst="roundRect">
            <a:avLst>
              <a:gd name="adj" fmla="val 2500"/>
            </a:avLst>
          </a:prstGeom>
          <a:solidFill>
            <a:schemeClr val="bg2"/>
          </a:solidFill>
          <a:ln w="12700">
            <a:solidFill>
              <a:schemeClr val="bg2"/>
            </a:solidFill>
            <a:prstDash val="solid"/>
          </a:ln>
        </p:spPr>
      </p:sp>
      <p:sp>
        <p:nvSpPr>
          <p:cNvPr id="12" name="Text 10"/>
          <p:cNvSpPr txBox="1"/>
          <p:nvPr/>
        </p:nvSpPr>
        <p:spPr>
          <a:xfrm>
            <a:off x="8275320" y="1508760"/>
            <a:ext cx="3108960" cy="365760"/>
          </a:xfrm>
          <a:prstGeom prst="rect">
            <a:avLst/>
          </a:prstGeom>
          <a:noFill/>
          <a:ln/>
        </p:spPr>
        <p:txBody>
          <a:bodyPr wrap="square" lIns="0" tIns="0" rIns="0" bIns="0" rtlCol="0" anchor="ctr"/>
          <a:lstStyle/>
          <a:p>
            <a:pPr indent="0" marL="0">
              <a:buNone/>
            </a:pPr>
            <a:r>
              <a:rPr lang="en-US" sz="1200" b="1" dirty="0">
                <a:solidFill>
                  <a:schemeClr val="accent5"/>
                </a:solidFill>
              </a:rPr>
              <a:t>Option C</a:t>
            </a:r>
            <a:endParaRPr lang="en-US" sz="1200" dirty="0"/>
          </a:p>
        </p:txBody>
      </p:sp>
      <p:sp>
        <p:nvSpPr>
          <p:cNvPr id="13" name="Text 11"/>
          <p:cNvSpPr txBox="1"/>
          <p:nvPr/>
        </p:nvSpPr>
        <p:spPr>
          <a:xfrm>
            <a:off x="8275320" y="1874520"/>
            <a:ext cx="3108960" cy="822960"/>
          </a:xfrm>
          <a:prstGeom prst="rect">
            <a:avLst/>
          </a:prstGeom>
          <a:noFill/>
          <a:ln/>
        </p:spPr>
        <p:txBody>
          <a:bodyPr wrap="square" lIns="0" tIns="0" rIns="0" bIns="0" rtlCol="0" anchor="t"/>
          <a:lstStyle/>
          <a:p>
            <a:pPr indent="0" marL="0">
              <a:buNone/>
            </a:pPr>
            <a:r>
              <a:rPr lang="en-US" sz="1400" b="1" dirty="0">
                <a:solidFill>
                  <a:schemeClr val="tx2"/>
                </a:solidFill>
              </a:rPr>
              <a:t>Hybrid: 4 partner FTE plus corporate actions deferred by two weeks</a:t>
            </a:r>
            <a:endParaRPr lang="en-US" sz="1400" dirty="0"/>
          </a:p>
        </p:txBody>
      </p:sp>
      <p:sp>
        <p:nvSpPr>
          <p:cNvPr id="14" name="Text 12"/>
          <p:cNvSpPr txBox="1"/>
          <p:nvPr/>
        </p:nvSpPr>
        <p:spPr>
          <a:xfrm>
            <a:off x="8275320" y="2743200"/>
            <a:ext cx="3108960" cy="1463040"/>
          </a:xfrm>
          <a:prstGeom prst="rect">
            <a:avLst/>
          </a:prstGeom>
          <a:noFill/>
          <a:ln/>
        </p:spPr>
        <p:txBody>
          <a:bodyPr wrap="square" lIns="0" tIns="0" rIns="0" bIns="0" rtlCol="0" anchor="t"/>
          <a:lstStyle/>
          <a:p>
            <a:pPr indent="0" marL="0">
              <a:buNone/>
            </a:pPr>
            <a:r>
              <a:rPr lang="en-US" sz="1150" dirty="0">
                <a:solidFill>
                  <a:schemeClr val="tx1"/>
                </a:solidFill>
              </a:rPr>
              <a:t>About CHF 90,000. Requested by the chair for comparison. Same freeze-window exposure as B, smaller.</a:t>
            </a:r>
            <a:endParaRPr lang="en-US" sz="1150" dirty="0"/>
          </a:p>
        </p:txBody>
      </p:sp>
      <p:sp>
        <p:nvSpPr>
          <p:cNvPr id="15" name="Text 13"/>
          <p:cNvSpPr txBox="1"/>
          <p:nvPr/>
        </p:nvSpPr>
        <p:spPr>
          <a:xfrm>
            <a:off x="548640" y="4526280"/>
            <a:ext cx="11064240" cy="320040"/>
          </a:xfrm>
          <a:prstGeom prst="rect">
            <a:avLst/>
          </a:prstGeom>
          <a:noFill/>
          <a:ln/>
        </p:spPr>
        <p:txBody>
          <a:bodyPr wrap="square" lIns="0" tIns="0" rIns="0" bIns="0" rtlCol="0" anchor="ctr"/>
          <a:lstStyle/>
          <a:p>
            <a:pPr indent="0" marL="0">
              <a:buNone/>
            </a:pPr>
            <a:r>
              <a:rPr lang="en-US" sz="1400" b="1" dirty="0">
                <a:solidFill>
                  <a:schemeClr val="tx2"/>
                </a:solidFill>
              </a:rPr>
              <a:t>Conditions attached to a conditional go, whichever option is chosen</a:t>
            </a:r>
            <a:endParaRPr lang="en-US" sz="1400" dirty="0"/>
          </a:p>
        </p:txBody>
      </p:sp>
      <p:sp>
        <p:nvSpPr>
          <p:cNvPr id="16" name="Text 14"/>
          <p:cNvSpPr txBox="1"/>
          <p:nvPr/>
        </p:nvSpPr>
        <p:spPr>
          <a:xfrm>
            <a:off x="548640" y="4846320"/>
            <a:ext cx="11064240" cy="13258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1"/>
                </a:solidFill>
              </a:rPr>
              <a:t>Owner named for DEF-121 enrichment by 16 Oct; DEF-114 closed by 16 Oct (D1).</a:t>
            </a:r>
            <a:endParaRPr lang="en-US" sz="1150" dirty="0"/>
          </a:p>
          <a:p>
            <a:pPr marL="342900" indent="-342900">
              <a:spcAft>
                <a:spcPts val="300"/>
              </a:spcAft>
              <a:buSzPct val="100000"/>
              <a:buChar char="•"/>
            </a:pPr>
            <a:r>
              <a:rPr lang="en-US" sz="1150" dirty="0">
                <a:solidFill>
                  <a:schemeClr val="tx1"/>
                </a:solidFill>
              </a:rPr>
              <a:t>Protected training slots held on 20 to 21 Oct; 95% completion by 10 Nov; two Operations floorwalkers released with the staffing decision (D3).</a:t>
            </a:r>
            <a:endParaRPr lang="en-US" sz="1150" dirty="0"/>
          </a:p>
          <a:p>
            <a:pPr marL="342900" indent="-342900">
              <a:spcAft>
                <a:spcPts val="300"/>
              </a:spcAft>
              <a:buSzPct val="100000"/>
              <a:buChar char="•"/>
            </a:pPr>
            <a:r>
              <a:rPr lang="en-US" sz="1150" dirty="0">
                <a:solidFill>
                  <a:schemeClr val="tx1"/>
                </a:solidFill>
              </a:rPr>
              <a:t>Batch fix deployed 23 Oct; DR2 with end-to-end rollback on 7 to 8 Nov; committee reconvenes by email on 9 Nov to confirm (D4).</a:t>
            </a:r>
            <a:endParaRPr lang="en-US" sz="1150" dirty="0"/>
          </a:p>
          <a:p>
            <a:pPr marL="342900" indent="-342900">
              <a:spcAft>
                <a:spcPts val="300"/>
              </a:spcAft>
              <a:buSzPct val="100000"/>
              <a:buChar char="•"/>
            </a:pPr>
            <a:r>
              <a:rPr lang="en-US" sz="1150" dirty="0">
                <a:solidFill>
                  <a:schemeClr val="tx1"/>
                </a:solidFill>
              </a:rPr>
              <a:t>Head of Operational Risk attends on 6 Nov to give or refuse a conditional approval; written retention confirmation by 16 Oct (D5).</a:t>
            </a:r>
            <a:endParaRPr lang="en-US" sz="115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C99"/>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lstStyle/>
          <a:p>
            <a:pPr algn="l" indent="0" marL="0">
              <a:buNone/>
            </a:pPr>
            <a:r>
              <a:rPr lang="en-US" sz="2800" b="1" dirty="0">
                <a:solidFill>
                  <a:schemeClr val="tx2"/>
                </a:solidFill>
              </a:rPr>
              <a:t>How this pre-read was produced, and what we measured</a:t>
            </a:r>
            <a:endParaRPr lang="en-US" sz="2800" dirty="0"/>
          </a:p>
        </p:txBody>
      </p:sp>
      <p:sp>
        <p:nvSpPr>
          <p:cNvPr id="3" name="Text 1"/>
          <p:cNvSpPr txBox="1"/>
          <p:nvPr/>
        </p:nvSpPr>
        <p:spPr>
          <a:xfrm>
            <a:off x="548640" y="1325880"/>
            <a:ext cx="5486400" cy="365760"/>
          </a:xfrm>
          <a:prstGeom prst="rect">
            <a:avLst/>
          </a:prstGeom>
          <a:noFill/>
          <a:ln/>
        </p:spPr>
        <p:txBody>
          <a:bodyPr wrap="square" lIns="0" tIns="0" rIns="0" bIns="0" rtlCol="0" anchor="ctr"/>
          <a:lstStyle/>
          <a:p>
            <a:pPr indent="0" marL="0">
              <a:buNone/>
            </a:pPr>
            <a:r>
              <a:rPr lang="en-US" sz="1500" b="1" dirty="0">
                <a:solidFill>
                  <a:schemeClr val="tx2"/>
                </a:solidFill>
              </a:rPr>
              <a:t>Transformation Cockpit prototype</a:t>
            </a:r>
            <a:endParaRPr lang="en-US" sz="1500" dirty="0"/>
          </a:p>
        </p:txBody>
      </p:sp>
      <p:sp>
        <p:nvSpPr>
          <p:cNvPr id="4" name="step 1"/>
          <p:cNvSpPr/>
          <p:nvPr/>
        </p:nvSpPr>
        <p:spPr>
          <a:xfrm>
            <a:off x="548640" y="1856232"/>
            <a:ext cx="502920" cy="502920"/>
          </a:xfrm>
          <a:prstGeom prst="ellipse">
            <a:avLst/>
          </a:prstGeom>
          <a:solidFill>
            <a:schemeClr val="tx2"/>
          </a:solidFill>
          <a:ln w="12700">
            <a:solidFill>
              <a:schemeClr val="tx2"/>
            </a:solidFill>
            <a:prstDash val="solid"/>
          </a:ln>
        </p:spPr>
      </p:sp>
      <p:sp>
        <p:nvSpPr>
          <p:cNvPr id="5" name="Text 3"/>
          <p:cNvSpPr txBox="1"/>
          <p:nvPr/>
        </p:nvSpPr>
        <p:spPr>
          <a:xfrm>
            <a:off x="548640" y="1856232"/>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1234440" y="1783080"/>
            <a:ext cx="4754880" cy="320040"/>
          </a:xfrm>
          <a:prstGeom prst="rect">
            <a:avLst/>
          </a:prstGeom>
          <a:noFill/>
          <a:ln/>
        </p:spPr>
        <p:txBody>
          <a:bodyPr wrap="square" lIns="0" tIns="0" rIns="0" bIns="0" rtlCol="0" anchor="ctr"/>
          <a:lstStyle/>
          <a:p>
            <a:pPr indent="0" marL="0">
              <a:buNone/>
            </a:pPr>
            <a:r>
              <a:rPr lang="en-US" sz="1300" b="1" dirty="0">
                <a:solidFill>
                  <a:schemeClr val="tx2"/>
                </a:solidFill>
              </a:rPr>
              <a:t>Ingest</a:t>
            </a:r>
            <a:endParaRPr lang="en-US" sz="1300" dirty="0"/>
          </a:p>
        </p:txBody>
      </p:sp>
      <p:sp>
        <p:nvSpPr>
          <p:cNvPr id="7" name="Text 5"/>
          <p:cNvSpPr txBox="1"/>
          <p:nvPr/>
        </p:nvSpPr>
        <p:spPr>
          <a:xfrm>
            <a:off x="1234440" y="2103120"/>
            <a:ext cx="4754880" cy="594360"/>
          </a:xfrm>
          <a:prstGeom prst="rect">
            <a:avLst/>
          </a:prstGeom>
          <a:noFill/>
          <a:ln/>
        </p:spPr>
        <p:txBody>
          <a:bodyPr wrap="square" lIns="0" tIns="0" rIns="0" bIns="0" rtlCol="0" anchor="t"/>
          <a:lstStyle/>
          <a:p>
            <a:pPr indent="0" marL="0">
              <a:buNone/>
            </a:pPr>
            <a:r>
              <a:rPr lang="en-US" sz="1100" dirty="0">
                <a:solidFill>
                  <a:schemeClr val="tx1"/>
                </a:solidFill>
              </a:rPr>
              <a:t>Milestone plan (xlsx), RAID log, readiness KPIs, free-text weekly updates</a:t>
            </a:r>
            <a:endParaRPr lang="en-US" sz="1100" dirty="0"/>
          </a:p>
        </p:txBody>
      </p:sp>
      <p:sp>
        <p:nvSpPr>
          <p:cNvPr id="8" name="step 2"/>
          <p:cNvSpPr/>
          <p:nvPr/>
        </p:nvSpPr>
        <p:spPr>
          <a:xfrm>
            <a:off x="548640" y="2816352"/>
            <a:ext cx="502920" cy="502920"/>
          </a:xfrm>
          <a:prstGeom prst="ellipse">
            <a:avLst/>
          </a:prstGeom>
          <a:solidFill>
            <a:schemeClr val="tx2"/>
          </a:solidFill>
          <a:ln w="12700">
            <a:solidFill>
              <a:schemeClr val="tx2"/>
            </a:solidFill>
            <a:prstDash val="solid"/>
          </a:ln>
        </p:spPr>
      </p:sp>
      <p:sp>
        <p:nvSpPr>
          <p:cNvPr id="9" name="Text 7"/>
          <p:cNvSpPr txBox="1"/>
          <p:nvPr/>
        </p:nvSpPr>
        <p:spPr>
          <a:xfrm>
            <a:off x="548640" y="2816352"/>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 8"/>
          <p:cNvSpPr txBox="1"/>
          <p:nvPr/>
        </p:nvSpPr>
        <p:spPr>
          <a:xfrm>
            <a:off x="1234440" y="2743200"/>
            <a:ext cx="4754880" cy="320040"/>
          </a:xfrm>
          <a:prstGeom prst="rect">
            <a:avLst/>
          </a:prstGeom>
          <a:noFill/>
          <a:ln/>
        </p:spPr>
        <p:txBody>
          <a:bodyPr wrap="square" lIns="0" tIns="0" rIns="0" bIns="0" rtlCol="0" anchor="ctr"/>
          <a:lstStyle/>
          <a:p>
            <a:pPr indent="0" marL="0">
              <a:buNone/>
            </a:pPr>
            <a:r>
              <a:rPr lang="en-US" sz="1300" b="1" dirty="0">
                <a:solidFill>
                  <a:schemeClr val="tx2"/>
                </a:solidFill>
              </a:rPr>
              <a:t>Analyse, no AI</a:t>
            </a:r>
            <a:endParaRPr lang="en-US" sz="1300" dirty="0"/>
          </a:p>
        </p:txBody>
      </p:sp>
      <p:sp>
        <p:nvSpPr>
          <p:cNvPr id="11" name="Text 9"/>
          <p:cNvSpPr txBox="1"/>
          <p:nvPr/>
        </p:nvSpPr>
        <p:spPr>
          <a:xfrm>
            <a:off x="1234440" y="3063240"/>
            <a:ext cx="4754880" cy="594360"/>
          </a:xfrm>
          <a:prstGeom prst="rect">
            <a:avLst/>
          </a:prstGeom>
          <a:noFill/>
          <a:ln/>
        </p:spPr>
        <p:txBody>
          <a:bodyPr wrap="square" lIns="0" tIns="0" rIns="0" bIns="0" rtlCol="0" anchor="t"/>
          <a:lstStyle/>
          <a:p>
            <a:pPr indent="0" marL="0">
              <a:buNone/>
            </a:pPr>
            <a:r>
              <a:rPr lang="en-US" sz="1100" dirty="0">
                <a:solidFill>
                  <a:schemeClr val="tx1"/>
                </a:solidFill>
              </a:rPr>
              <a:t>Slips, dependency conflicts, unowned items, deterministic RAG scoring against framework thresholds</a:t>
            </a:r>
            <a:endParaRPr lang="en-US" sz="1100" dirty="0"/>
          </a:p>
        </p:txBody>
      </p:sp>
      <p:sp>
        <p:nvSpPr>
          <p:cNvPr id="12" name="step 3"/>
          <p:cNvSpPr/>
          <p:nvPr/>
        </p:nvSpPr>
        <p:spPr>
          <a:xfrm>
            <a:off x="548640" y="3776472"/>
            <a:ext cx="502920" cy="502920"/>
          </a:xfrm>
          <a:prstGeom prst="ellipse">
            <a:avLst/>
          </a:prstGeom>
          <a:solidFill>
            <a:schemeClr val="tx2"/>
          </a:solidFill>
          <a:ln w="12700">
            <a:solidFill>
              <a:schemeClr val="tx2"/>
            </a:solidFill>
            <a:prstDash val="solid"/>
          </a:ln>
        </p:spPr>
      </p:sp>
      <p:sp>
        <p:nvSpPr>
          <p:cNvPr id="13" name="Text 11"/>
          <p:cNvSpPr txBox="1"/>
          <p:nvPr/>
        </p:nvSpPr>
        <p:spPr>
          <a:xfrm>
            <a:off x="548640" y="3776472"/>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4" name="Text 12"/>
          <p:cNvSpPr txBox="1"/>
          <p:nvPr/>
        </p:nvSpPr>
        <p:spPr>
          <a:xfrm>
            <a:off x="1234440" y="3703320"/>
            <a:ext cx="4754880" cy="320040"/>
          </a:xfrm>
          <a:prstGeom prst="rect">
            <a:avLst/>
          </a:prstGeom>
          <a:noFill/>
          <a:ln/>
        </p:spPr>
        <p:txBody>
          <a:bodyPr wrap="square" lIns="0" tIns="0" rIns="0" bIns="0" rtlCol="0" anchor="ctr"/>
          <a:lstStyle/>
          <a:p>
            <a:pPr indent="0" marL="0">
              <a:buNone/>
            </a:pPr>
            <a:r>
              <a:rPr lang="en-US" sz="1300" b="1" dirty="0">
                <a:solidFill>
                  <a:schemeClr val="tx2"/>
                </a:solidFill>
              </a:rPr>
              <a:t>Propose, with AI</a:t>
            </a:r>
            <a:endParaRPr lang="en-US" sz="1300" dirty="0"/>
          </a:p>
        </p:txBody>
      </p:sp>
      <p:sp>
        <p:nvSpPr>
          <p:cNvPr id="15" name="Text 13"/>
          <p:cNvSpPr txBox="1"/>
          <p:nvPr/>
        </p:nvSpPr>
        <p:spPr>
          <a:xfrm>
            <a:off x="1234440" y="4023360"/>
            <a:ext cx="4754880" cy="594360"/>
          </a:xfrm>
          <a:prstGeom prst="rect">
            <a:avLst/>
          </a:prstGeom>
          <a:noFill/>
          <a:ln/>
        </p:spPr>
        <p:txBody>
          <a:bodyPr wrap="square" lIns="0" tIns="0" rIns="0" bIns="0" rtlCol="0" anchor="t"/>
          <a:lstStyle/>
          <a:p>
            <a:pPr indent="0" marL="0">
              <a:buNone/>
            </a:pPr>
            <a:r>
              <a:rPr lang="en-US" sz="1100" dirty="0">
                <a:solidFill>
                  <a:schemeClr val="tx1"/>
                </a:solidFill>
              </a:rPr>
              <a:t>Weekly updates read for risks, slips, decisions. Each proposal quotes its source sentence. A reviewer accepts or rejects</a:t>
            </a:r>
            <a:endParaRPr lang="en-US" sz="1100" dirty="0"/>
          </a:p>
        </p:txBody>
      </p:sp>
      <p:sp>
        <p:nvSpPr>
          <p:cNvPr id="16" name="step 4"/>
          <p:cNvSpPr/>
          <p:nvPr/>
        </p:nvSpPr>
        <p:spPr>
          <a:xfrm>
            <a:off x="548640" y="4736592"/>
            <a:ext cx="502920" cy="502920"/>
          </a:xfrm>
          <a:prstGeom prst="ellipse">
            <a:avLst/>
          </a:prstGeom>
          <a:solidFill>
            <a:schemeClr val="tx2"/>
          </a:solidFill>
          <a:ln w="12700">
            <a:solidFill>
              <a:schemeClr val="tx2"/>
            </a:solidFill>
            <a:prstDash val="solid"/>
          </a:ln>
        </p:spPr>
      </p:sp>
      <p:sp>
        <p:nvSpPr>
          <p:cNvPr id="17" name="Text 15"/>
          <p:cNvSpPr txBox="1"/>
          <p:nvPr/>
        </p:nvSpPr>
        <p:spPr>
          <a:xfrm>
            <a:off x="548640" y="4736592"/>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8" name="Text 16"/>
          <p:cNvSpPr txBox="1"/>
          <p:nvPr/>
        </p:nvSpPr>
        <p:spPr>
          <a:xfrm>
            <a:off x="1234440" y="4663440"/>
            <a:ext cx="4754880" cy="320040"/>
          </a:xfrm>
          <a:prstGeom prst="rect">
            <a:avLst/>
          </a:prstGeom>
          <a:noFill/>
          <a:ln/>
        </p:spPr>
        <p:txBody>
          <a:bodyPr wrap="square" lIns="0" tIns="0" rIns="0" bIns="0" rtlCol="0" anchor="ctr"/>
          <a:lstStyle/>
          <a:p>
            <a:pPr indent="0" marL="0">
              <a:buNone/>
            </a:pPr>
            <a:r>
              <a:rPr lang="en-US" sz="1300" b="1" dirty="0">
                <a:solidFill>
                  <a:schemeClr val="tx2"/>
                </a:solidFill>
              </a:rPr>
              <a:t>Draft and release</a:t>
            </a:r>
            <a:endParaRPr lang="en-US" sz="1300" dirty="0"/>
          </a:p>
        </p:txBody>
      </p:sp>
      <p:sp>
        <p:nvSpPr>
          <p:cNvPr id="19" name="Text 17"/>
          <p:cNvSpPr txBox="1"/>
          <p:nvPr/>
        </p:nvSpPr>
        <p:spPr>
          <a:xfrm>
            <a:off x="1234440" y="4983480"/>
            <a:ext cx="4754880" cy="594360"/>
          </a:xfrm>
          <a:prstGeom prst="rect">
            <a:avLst/>
          </a:prstGeom>
          <a:noFill/>
          <a:ln/>
        </p:spPr>
        <p:txBody>
          <a:bodyPr wrap="square" lIns="0" tIns="0" rIns="0" bIns="0" rtlCol="0" anchor="t"/>
          <a:lstStyle/>
          <a:p>
            <a:pPr indent="0" marL="0">
              <a:buNone/>
            </a:pPr>
            <a:r>
              <a:rPr lang="en-US" sz="1100" dirty="0">
                <a:solidFill>
                  <a:schemeClr val="tx1"/>
                </a:solidFill>
              </a:rPr>
              <a:t>Executive report and talking points generated with a source tag on every line. DRAFT until a named reviewer releases</a:t>
            </a:r>
            <a:endParaRPr lang="en-US" sz="1100" dirty="0"/>
          </a:p>
        </p:txBody>
      </p:sp>
      <p:sp>
        <p:nvSpPr>
          <p:cNvPr id="20" name="Text 18"/>
          <p:cNvSpPr txBox="1"/>
          <p:nvPr/>
        </p:nvSpPr>
        <p:spPr>
          <a:xfrm>
            <a:off x="6492240" y="1325880"/>
            <a:ext cx="5120640" cy="365760"/>
          </a:xfrm>
          <a:prstGeom prst="rect">
            <a:avLst/>
          </a:prstGeom>
          <a:noFill/>
          <a:ln/>
        </p:spPr>
        <p:txBody>
          <a:bodyPr wrap="square" lIns="0" tIns="0" rIns="0" bIns="0" rtlCol="0" anchor="ctr"/>
          <a:lstStyle/>
          <a:p>
            <a:pPr indent="0" marL="0">
              <a:buNone/>
            </a:pPr>
            <a:r>
              <a:rPr lang="en-US" sz="1500" b="1" dirty="0">
                <a:solidFill>
                  <a:schemeClr val="tx2"/>
                </a:solidFill>
              </a:rPr>
              <a:t>What we measured</a:t>
            </a:r>
            <a:endParaRPr lang="en-US" sz="1500" dirty="0"/>
          </a:p>
        </p:txBody>
      </p:sp>
      <p:sp>
        <p:nvSpPr>
          <p:cNvPr id="21" name="eval card"/>
          <p:cNvSpPr/>
          <p:nvPr/>
        </p:nvSpPr>
        <p:spPr>
          <a:xfrm>
            <a:off x="6492240" y="1783080"/>
            <a:ext cx="5120640" cy="2148840"/>
          </a:xfrm>
          <a:prstGeom prst="roundRect">
            <a:avLst>
              <a:gd name="adj" fmla="val 3404"/>
            </a:avLst>
          </a:prstGeom>
          <a:solidFill>
            <a:schemeClr val="bg2"/>
          </a:solidFill>
          <a:ln w="12700">
            <a:solidFill>
              <a:schemeClr val="bg2"/>
            </a:solidFill>
            <a:prstDash val="solid"/>
          </a:ln>
        </p:spPr>
      </p:sp>
      <p:sp>
        <p:nvSpPr>
          <p:cNvPr id="22" name="Text 20"/>
          <p:cNvSpPr txBox="1"/>
          <p:nvPr/>
        </p:nvSpPr>
        <p:spPr>
          <a:xfrm>
            <a:off x="6675120" y="1874520"/>
            <a:ext cx="2377440" cy="822960"/>
          </a:xfrm>
          <a:prstGeom prst="rect">
            <a:avLst/>
          </a:prstGeom>
          <a:noFill/>
          <a:ln/>
        </p:spPr>
        <p:txBody>
          <a:bodyPr wrap="square" lIns="0" tIns="0" rIns="0" bIns="0" rtlCol="0" anchor="ctr"/>
          <a:lstStyle/>
          <a:p>
            <a:pPr algn="ctr" indent="0" marL="0">
              <a:buNone/>
            </a:pPr>
            <a:r>
              <a:rPr lang="en-US" sz="4400" b="1" dirty="0">
                <a:solidFill>
                  <a:srgbClr val="2E7D32"/>
                </a:solidFill>
              </a:rPr>
              <a:t>95%</a:t>
            </a:r>
            <a:endParaRPr lang="en-US" sz="4400" dirty="0"/>
          </a:p>
        </p:txBody>
      </p:sp>
      <p:sp>
        <p:nvSpPr>
          <p:cNvPr id="23" name="Text 21"/>
          <p:cNvSpPr txBox="1"/>
          <p:nvPr/>
        </p:nvSpPr>
        <p:spPr>
          <a:xfrm>
            <a:off x="6675120" y="2697480"/>
            <a:ext cx="2377440" cy="548640"/>
          </a:xfrm>
          <a:prstGeom prst="rect">
            <a:avLst/>
          </a:prstGeom>
          <a:noFill/>
          <a:ln/>
        </p:spPr>
        <p:txBody>
          <a:bodyPr wrap="square" lIns="0" tIns="0" rIns="0" bIns="0" rtlCol="0" anchor="t"/>
          <a:lstStyle/>
          <a:p>
            <a:pPr algn="ctr" indent="0" marL="0">
              <a:buNone/>
            </a:pPr>
            <a:r>
              <a:rPr lang="en-US" sz="1050" dirty="0">
                <a:solidFill>
                  <a:schemeClr val="tx1"/>
                </a:solidFill>
              </a:rPr>
              <a:t>recall on the 10 updates the rules were written next to</a:t>
            </a:r>
            <a:endParaRPr lang="en-US" sz="1050" dirty="0"/>
          </a:p>
        </p:txBody>
      </p:sp>
      <p:sp>
        <p:nvSpPr>
          <p:cNvPr id="24" name="Text 22"/>
          <p:cNvSpPr txBox="1"/>
          <p:nvPr/>
        </p:nvSpPr>
        <p:spPr>
          <a:xfrm>
            <a:off x="9098280" y="1874520"/>
            <a:ext cx="2377440" cy="822960"/>
          </a:xfrm>
          <a:prstGeom prst="rect">
            <a:avLst/>
          </a:prstGeom>
          <a:noFill/>
          <a:ln/>
        </p:spPr>
        <p:txBody>
          <a:bodyPr wrap="square" lIns="0" tIns="0" rIns="0" bIns="0" rtlCol="0" anchor="ctr"/>
          <a:lstStyle/>
          <a:p>
            <a:pPr algn="ctr" indent="0" marL="0">
              <a:buNone/>
            </a:pPr>
            <a:r>
              <a:rPr lang="en-US" sz="4400" b="1" dirty="0">
                <a:solidFill>
                  <a:srgbClr val="C62828"/>
                </a:solidFill>
              </a:rPr>
              <a:t>17%</a:t>
            </a:r>
            <a:endParaRPr lang="en-US" sz="4400" dirty="0"/>
          </a:p>
        </p:txBody>
      </p:sp>
      <p:sp>
        <p:nvSpPr>
          <p:cNvPr id="25" name="Text 23"/>
          <p:cNvSpPr txBox="1"/>
          <p:nvPr/>
        </p:nvSpPr>
        <p:spPr>
          <a:xfrm>
            <a:off x="9098280" y="2697480"/>
            <a:ext cx="2377440" cy="548640"/>
          </a:xfrm>
          <a:prstGeom prst="rect">
            <a:avLst/>
          </a:prstGeom>
          <a:noFill/>
          <a:ln/>
        </p:spPr>
        <p:txBody>
          <a:bodyPr wrap="square" lIns="0" tIns="0" rIns="0" bIns="0" rtlCol="0" anchor="t"/>
          <a:lstStyle/>
          <a:p>
            <a:pPr algn="ctr" indent="0" marL="0">
              <a:buNone/>
            </a:pPr>
            <a:r>
              <a:rPr lang="en-US" sz="1050" dirty="0">
                <a:solidFill>
                  <a:schemeClr val="tx1"/>
                </a:solidFill>
              </a:rPr>
              <a:t>recall on 5 held-out updates in a different writing style</a:t>
            </a:r>
            <a:endParaRPr lang="en-US" sz="1050" dirty="0"/>
          </a:p>
        </p:txBody>
      </p:sp>
      <p:sp>
        <p:nvSpPr>
          <p:cNvPr id="26" name="Text 24"/>
          <p:cNvSpPr txBox="1"/>
          <p:nvPr/>
        </p:nvSpPr>
        <p:spPr>
          <a:xfrm>
            <a:off x="6675120" y="3200400"/>
            <a:ext cx="4754880" cy="713232"/>
          </a:xfrm>
          <a:prstGeom prst="rect">
            <a:avLst/>
          </a:prstGeom>
          <a:noFill/>
          <a:ln/>
        </p:spPr>
        <p:txBody>
          <a:bodyPr wrap="square" lIns="0" tIns="0" rIns="0" bIns="0" rtlCol="0" anchor="t"/>
          <a:lstStyle/>
          <a:p>
            <a:pPr indent="0" marL="0">
              <a:buNone/>
            </a:pPr>
            <a:r>
              <a:rPr lang="en-US" sz="1050" dirty="0">
                <a:solidFill>
                  <a:schemeClr val="tx1"/>
                </a:solidFill>
              </a:rPr>
              <a:t>Keyword rules are precise (97 to 100%) but blind to new phrasing. That is the case for an LLM extractor with the same two controls: quoted source sentence, human review of every proposal. The LLM engine is built and not yet measured.</a:t>
            </a:r>
            <a:endParaRPr lang="en-US" sz="1050" dirty="0"/>
          </a:p>
        </p:txBody>
      </p:sp>
      <p:sp>
        <p:nvSpPr>
          <p:cNvPr id="27" name="Text 25"/>
          <p:cNvSpPr txBox="1"/>
          <p:nvPr/>
        </p:nvSpPr>
        <p:spPr>
          <a:xfrm>
            <a:off x="6492240" y="4114800"/>
            <a:ext cx="5120640" cy="320040"/>
          </a:xfrm>
          <a:prstGeom prst="rect">
            <a:avLst/>
          </a:prstGeom>
          <a:noFill/>
          <a:ln/>
        </p:spPr>
        <p:txBody>
          <a:bodyPr wrap="square" lIns="0" tIns="0" rIns="0" bIns="0" rtlCol="0" anchor="ctr"/>
          <a:lstStyle/>
          <a:p>
            <a:pPr indent="0" marL="0">
              <a:buNone/>
            </a:pPr>
            <a:r>
              <a:rPr lang="en-US" sz="1300" b="1" dirty="0">
                <a:solidFill>
                  <a:schemeClr val="tx2"/>
                </a:solidFill>
              </a:rPr>
              <a:t>Effort estimate, to be validated</a:t>
            </a:r>
            <a:endParaRPr lang="en-US" sz="1300" dirty="0"/>
          </a:p>
        </p:txBody>
      </p:sp>
      <p:sp>
        <p:nvSpPr>
          <p:cNvPr id="28" name="Text 26"/>
          <p:cNvSpPr txBox="1"/>
          <p:nvPr/>
        </p:nvSpPr>
        <p:spPr>
          <a:xfrm>
            <a:off x="6492240" y="4434840"/>
            <a:ext cx="5120640" cy="685800"/>
          </a:xfrm>
          <a:prstGeom prst="rect">
            <a:avLst/>
          </a:prstGeom>
          <a:noFill/>
          <a:ln/>
        </p:spPr>
        <p:txBody>
          <a:bodyPr wrap="square" lIns="0" tIns="0" rIns="0" bIns="0" rtlCol="0" anchor="t"/>
          <a:lstStyle/>
          <a:p>
            <a:pPr indent="0" marL="0">
              <a:buNone/>
            </a:pPr>
            <a:r>
              <a:rPr lang="en-US" sz="1050" dirty="0">
                <a:solidFill>
                  <a:schemeClr val="tx1"/>
                </a:solidFill>
              </a:rPr>
              <a:t>About 5 hours per week of manual reading and report compilation today; about 1 hour with the cockpit, if the extractor reaches 85% recall on real updates. Assumptions in 02_Evaluation_Report.md.</a:t>
            </a:r>
            <a:endParaRPr lang="en-US" sz="1050" dirty="0"/>
          </a:p>
        </p:txBody>
      </p:sp>
      <p:sp>
        <p:nvSpPr>
          <p:cNvPr id="29" name="Text 27"/>
          <p:cNvSpPr txBox="1"/>
          <p:nvPr/>
        </p:nvSpPr>
        <p:spPr>
          <a:xfrm>
            <a:off x="6492240" y="5212080"/>
            <a:ext cx="5120640" cy="320040"/>
          </a:xfrm>
          <a:prstGeom prst="rect">
            <a:avLst/>
          </a:prstGeom>
          <a:noFill/>
          <a:ln/>
        </p:spPr>
        <p:txBody>
          <a:bodyPr wrap="square" lIns="0" tIns="0" rIns="0" bIns="0" rtlCol="0" anchor="ctr"/>
          <a:lstStyle/>
          <a:p>
            <a:pPr indent="0" marL="0">
              <a:buNone/>
            </a:pPr>
            <a:r>
              <a:rPr lang="en-US" sz="1300" b="1" dirty="0">
                <a:solidFill>
                  <a:schemeClr val="tx2"/>
                </a:solidFill>
              </a:rPr>
              <a:t>Next steps</a:t>
            </a:r>
            <a:endParaRPr lang="en-US" sz="1300" dirty="0"/>
          </a:p>
        </p:txBody>
      </p:sp>
      <p:sp>
        <p:nvSpPr>
          <p:cNvPr id="30" name="Text 28"/>
          <p:cNvSpPr txBox="1"/>
          <p:nvPr/>
        </p:nvSpPr>
        <p:spPr>
          <a:xfrm>
            <a:off x="6492240" y="5532120"/>
            <a:ext cx="5120640" cy="82296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chemeClr val="tx1"/>
                </a:solidFill>
              </a:rPr>
              <a:t>Measure the LLM engine on the held-out set; second labeller for agreement</a:t>
            </a:r>
            <a:endParaRPr lang="en-US" sz="1050" dirty="0"/>
          </a:p>
          <a:p>
            <a:pPr marL="342900" indent="-342900">
              <a:spcAft>
                <a:spcPts val="200"/>
              </a:spcAft>
              <a:buSzPct val="100000"/>
              <a:buChar char="•"/>
            </a:pPr>
            <a:r>
              <a:rPr lang="en-US" sz="1050" dirty="0">
                <a:solidFill>
                  <a:schemeClr val="tx1"/>
                </a:solidFill>
              </a:rPr>
              <a:t>Two-week trial on anonymised real updates with a PMO analyst reviewing</a:t>
            </a:r>
            <a:endParaRPr lang="en-US" sz="1050" dirty="0"/>
          </a:p>
          <a:p>
            <a:pPr marL="342900" indent="-342900">
              <a:spcAft>
                <a:spcPts val="200"/>
              </a:spcAft>
              <a:buSzPct val="100000"/>
              <a:buChar char="•"/>
            </a:pPr>
            <a:r>
              <a:rPr lang="en-US" sz="1050" dirty="0">
                <a:solidFill>
                  <a:schemeClr val="tx1"/>
                </a:solidFill>
              </a:rPr>
              <a:t>Decide on entry into the weekly reporting cycle only after that</a:t>
            </a:r>
            <a:endParaRPr lang="en-US" sz="105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C99"/>
                </a:solidFill>
              </a:defRPr>
            </a:lvl1pPr>
          </a:lstStyle>
          <a:p>
            <a:pPr algn="l"/>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Cockpit Charcoal">
  <a:themeElements>
    <a:clrScheme name="Cockpit Charcoal">
      <a:dk1>
        <a:srgbClr val="212121"/>
      </a:dk1>
      <a:lt1>
        <a:srgbClr val="FFFFFF"/>
      </a:lt1>
      <a:dk2>
        <a:srgbClr val="36454F"/>
      </a:dk2>
      <a:lt2>
        <a:srgbClr val="F2F2F2"/>
      </a:lt2>
      <a:accent1>
        <a:srgbClr val="36454F"/>
      </a:accent1>
      <a:accent2>
        <a:srgbClr val="C62828"/>
      </a:accent2>
      <a:accent3>
        <a:srgbClr val="EF6C00"/>
      </a:accent3>
      <a:accent4>
        <a:srgbClr val="2E7D32"/>
      </a:accent4>
      <a:accent5>
        <a:srgbClr val="7A8C99"/>
      </a:accent5>
      <a:accent6>
        <a:srgbClr val="B0BEC5"/>
      </a:accent6>
      <a:hlink>
        <a:srgbClr val="36454F"/>
      </a:hlink>
      <a:folHlink>
        <a:srgbClr val="7A8C99"/>
      </a:folHlink>
    </a:clrScheme>
    <a:fontScheme name="Cockpit Charco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 HORIZON Release Wave 3, SteerCo pre-read</dc:title>
  <dc:subject>PptxGenJS Presentation</dc:subject>
  <dc:creator>Tommaso Portesan</dc:creator>
  <cp:lastModifiedBy>Tommaso Portesan</cp:lastModifiedBy>
  <cp:revision>1</cp:revision>
  <dcterms:created xsi:type="dcterms:W3CDTF">2026-10-11T10:13:08Z</dcterms:created>
  <dcterms:modified xsi:type="dcterms:W3CDTF">2026-10-11T10:13:08Z</dcterms:modified>
</cp:coreProperties>
</file>